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1" r:id="rId1"/>
  </p:sldMasterIdLst>
  <p:notesMasterIdLst>
    <p:notesMasterId r:id="rId17"/>
  </p:notesMasterIdLst>
  <p:handoutMasterIdLst>
    <p:handoutMasterId r:id="rId18"/>
  </p:handoutMasterIdLst>
  <p:sldIdLst>
    <p:sldId id="1657" r:id="rId2"/>
    <p:sldId id="1641" r:id="rId3"/>
    <p:sldId id="1676" r:id="rId4"/>
    <p:sldId id="1677" r:id="rId5"/>
    <p:sldId id="1690" r:id="rId6"/>
    <p:sldId id="1699" r:id="rId7"/>
    <p:sldId id="1700" r:id="rId8"/>
    <p:sldId id="1701" r:id="rId9"/>
    <p:sldId id="1702" r:id="rId10"/>
    <p:sldId id="1703" r:id="rId11"/>
    <p:sldId id="1704" r:id="rId12"/>
    <p:sldId id="1705" r:id="rId13"/>
    <p:sldId id="1706" r:id="rId14"/>
    <p:sldId id="1707" r:id="rId15"/>
    <p:sldId id="1583" r:id="rId16"/>
  </p:sldIdLst>
  <p:sldSz cx="9144000" cy="5143500" type="screen16x9"/>
  <p:notesSz cx="9869488" cy="67357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pit Khandelwal [PhD - 2020]" initials="AK[2"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1A3260"/>
    <a:srgbClr val="0000FF"/>
    <a:srgbClr val="000066"/>
    <a:srgbClr val="2957A4"/>
    <a:srgbClr val="003300"/>
    <a:srgbClr val="FF9966"/>
    <a:srgbClr val="FF9933"/>
    <a:srgbClr val="6600FF"/>
    <a:srgbClr val="B050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9" autoAdjust="0"/>
    <p:restoredTop sz="95388" autoAdjust="0"/>
  </p:normalViewPr>
  <p:slideViewPr>
    <p:cSldViewPr>
      <p:cViewPr varScale="1">
        <p:scale>
          <a:sx n="117" d="100"/>
          <a:sy n="117" d="100"/>
        </p:scale>
        <p:origin x="470" y="8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2" d="100"/>
          <a:sy n="72" d="100"/>
        </p:scale>
        <p:origin x="1734" y="5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276779" cy="337958"/>
          </a:xfrm>
          <a:prstGeom prst="rect">
            <a:avLst/>
          </a:prstGeom>
        </p:spPr>
        <p:txBody>
          <a:bodyPr vert="horz" lIns="92930" tIns="46465" rIns="92930" bIns="46465" rtlCol="0"/>
          <a:lstStyle>
            <a:lvl1pPr algn="l">
              <a:defRPr sz="1200"/>
            </a:lvl1pPr>
          </a:lstStyle>
          <a:p>
            <a:endParaRPr lang="en-IN" dirty="0"/>
          </a:p>
        </p:txBody>
      </p:sp>
      <p:sp>
        <p:nvSpPr>
          <p:cNvPr id="3" name="Date Placeholder 2"/>
          <p:cNvSpPr>
            <a:spLocks noGrp="1"/>
          </p:cNvSpPr>
          <p:nvPr>
            <p:ph type="dt" sz="quarter" idx="1"/>
          </p:nvPr>
        </p:nvSpPr>
        <p:spPr>
          <a:xfrm>
            <a:off x="5590429" y="1"/>
            <a:ext cx="4276779" cy="337958"/>
          </a:xfrm>
          <a:prstGeom prst="rect">
            <a:avLst/>
          </a:prstGeom>
        </p:spPr>
        <p:txBody>
          <a:bodyPr vert="horz" lIns="92930" tIns="46465" rIns="92930" bIns="46465" rtlCol="0"/>
          <a:lstStyle>
            <a:lvl1pPr algn="r">
              <a:defRPr sz="1200"/>
            </a:lvl1pPr>
          </a:lstStyle>
          <a:p>
            <a:fld id="{CC24A449-4BC4-4E09-90DE-354BE26668C7}" type="datetimeFigureOut">
              <a:rPr lang="en-IN" smtClean="0"/>
              <a:t>28-01-2026</a:t>
            </a:fld>
            <a:endParaRPr lang="en-IN" dirty="0"/>
          </a:p>
        </p:txBody>
      </p:sp>
      <p:sp>
        <p:nvSpPr>
          <p:cNvPr id="4" name="Footer Placeholder 3"/>
          <p:cNvSpPr>
            <a:spLocks noGrp="1"/>
          </p:cNvSpPr>
          <p:nvPr>
            <p:ph type="ftr" sz="quarter" idx="2"/>
          </p:nvPr>
        </p:nvSpPr>
        <p:spPr>
          <a:xfrm>
            <a:off x="1" y="6397808"/>
            <a:ext cx="4276779" cy="337957"/>
          </a:xfrm>
          <a:prstGeom prst="rect">
            <a:avLst/>
          </a:prstGeom>
        </p:spPr>
        <p:txBody>
          <a:bodyPr vert="horz" lIns="92930" tIns="46465" rIns="92930" bIns="46465" rtlCol="0" anchor="b"/>
          <a:lstStyle>
            <a:lvl1pPr algn="l">
              <a:defRPr sz="1200"/>
            </a:lvl1pPr>
          </a:lstStyle>
          <a:p>
            <a:endParaRPr lang="en-IN" dirty="0"/>
          </a:p>
        </p:txBody>
      </p:sp>
      <p:sp>
        <p:nvSpPr>
          <p:cNvPr id="5" name="Slide Number Placeholder 4"/>
          <p:cNvSpPr>
            <a:spLocks noGrp="1"/>
          </p:cNvSpPr>
          <p:nvPr>
            <p:ph type="sldNum" sz="quarter" idx="3"/>
          </p:nvPr>
        </p:nvSpPr>
        <p:spPr>
          <a:xfrm>
            <a:off x="5590429" y="6397808"/>
            <a:ext cx="4276779" cy="337957"/>
          </a:xfrm>
          <a:prstGeom prst="rect">
            <a:avLst/>
          </a:prstGeom>
        </p:spPr>
        <p:txBody>
          <a:bodyPr vert="horz" lIns="92930" tIns="46465" rIns="92930" bIns="46465" rtlCol="0" anchor="b"/>
          <a:lstStyle>
            <a:lvl1pPr algn="r">
              <a:defRPr sz="1200"/>
            </a:lvl1pPr>
          </a:lstStyle>
          <a:p>
            <a:fld id="{BF35EDFB-F004-4D1D-B235-12240AA84BF9}" type="slidenum">
              <a:rPr lang="en-IN" smtClean="0"/>
              <a:t>‹#›</a:t>
            </a:fld>
            <a:endParaRPr lang="en-IN" dirty="0"/>
          </a:p>
        </p:txBody>
      </p:sp>
    </p:spTree>
    <p:extLst>
      <p:ext uri="{BB962C8B-B14F-4D97-AF65-F5344CB8AC3E}">
        <p14:creationId xmlns:p14="http://schemas.microsoft.com/office/powerpoint/2010/main" val="209050768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1" y="0"/>
            <a:ext cx="4276779" cy="336788"/>
          </a:xfrm>
          <a:prstGeom prst="rect">
            <a:avLst/>
          </a:prstGeom>
          <a:noFill/>
          <a:ln w="9525">
            <a:noFill/>
            <a:miter lim="800000"/>
            <a:headEnd/>
            <a:tailEnd/>
          </a:ln>
          <a:effectLst/>
        </p:spPr>
        <p:txBody>
          <a:bodyPr vert="horz" wrap="square" lIns="92930" tIns="46465" rIns="92930" bIns="46465" numCol="1" anchor="t" anchorCtr="0" compatLnSpc="1">
            <a:prstTxWarp prst="textNoShape">
              <a:avLst/>
            </a:prstTxWarp>
          </a:bodyPr>
          <a:lstStyle>
            <a:lvl1pPr eaLnBrk="1" hangingPunct="1">
              <a:defRPr sz="1200">
                <a:latin typeface="Arial" charset="0"/>
                <a:ea typeface="+mn-ea"/>
                <a:cs typeface="Arial" charset="0"/>
              </a:defRPr>
            </a:lvl1pPr>
          </a:lstStyle>
          <a:p>
            <a:pPr>
              <a:defRPr/>
            </a:pPr>
            <a:endParaRPr lang="en-US" dirty="0"/>
          </a:p>
        </p:txBody>
      </p:sp>
      <p:sp>
        <p:nvSpPr>
          <p:cNvPr id="47107" name="Rectangle 3"/>
          <p:cNvSpPr>
            <a:spLocks noGrp="1" noChangeArrowheads="1"/>
          </p:cNvSpPr>
          <p:nvPr>
            <p:ph type="dt" idx="1"/>
          </p:nvPr>
        </p:nvSpPr>
        <p:spPr bwMode="auto">
          <a:xfrm>
            <a:off x="5590429" y="0"/>
            <a:ext cx="4276779" cy="336788"/>
          </a:xfrm>
          <a:prstGeom prst="rect">
            <a:avLst/>
          </a:prstGeom>
          <a:noFill/>
          <a:ln w="9525">
            <a:noFill/>
            <a:miter lim="800000"/>
            <a:headEnd/>
            <a:tailEnd/>
          </a:ln>
          <a:effectLst/>
        </p:spPr>
        <p:txBody>
          <a:bodyPr vert="horz" wrap="square" lIns="92930" tIns="46465" rIns="92930" bIns="46465" numCol="1" anchor="t" anchorCtr="0" compatLnSpc="1">
            <a:prstTxWarp prst="textNoShape">
              <a:avLst/>
            </a:prstTxWarp>
          </a:bodyPr>
          <a:lstStyle>
            <a:lvl1pPr algn="r" eaLnBrk="1" hangingPunct="1">
              <a:defRPr sz="1200">
                <a:latin typeface="Arial" charset="0"/>
                <a:ea typeface="+mn-ea"/>
                <a:cs typeface="Arial" charset="0"/>
              </a:defRPr>
            </a:lvl1pPr>
          </a:lstStyle>
          <a:p>
            <a:pPr>
              <a:defRPr/>
            </a:pPr>
            <a:endParaRPr lang="en-US" dirty="0"/>
          </a:p>
        </p:txBody>
      </p:sp>
      <p:sp>
        <p:nvSpPr>
          <p:cNvPr id="14340" name="Rectangle 4"/>
          <p:cNvSpPr>
            <a:spLocks noGrp="1" noRot="1" noChangeAspect="1" noChangeArrowheads="1" noTextEdit="1"/>
          </p:cNvSpPr>
          <p:nvPr>
            <p:ph type="sldImg" idx="2"/>
          </p:nvPr>
        </p:nvSpPr>
        <p:spPr bwMode="auto">
          <a:xfrm>
            <a:off x="2690813" y="506413"/>
            <a:ext cx="4487862" cy="25241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986950" y="3199490"/>
            <a:ext cx="7895590" cy="3031093"/>
          </a:xfrm>
          <a:prstGeom prst="rect">
            <a:avLst/>
          </a:prstGeom>
          <a:noFill/>
          <a:ln w="9525">
            <a:noFill/>
            <a:miter lim="800000"/>
            <a:headEnd/>
            <a:tailEnd/>
          </a:ln>
          <a:effectLst/>
        </p:spPr>
        <p:txBody>
          <a:bodyPr vert="horz" wrap="square" lIns="92930" tIns="46465" rIns="92930" bIns="4646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7110" name="Rectangle 6"/>
          <p:cNvSpPr>
            <a:spLocks noGrp="1" noChangeArrowheads="1"/>
          </p:cNvSpPr>
          <p:nvPr>
            <p:ph type="ftr" sz="quarter" idx="4"/>
          </p:nvPr>
        </p:nvSpPr>
        <p:spPr bwMode="auto">
          <a:xfrm>
            <a:off x="1" y="6397805"/>
            <a:ext cx="4276779" cy="336788"/>
          </a:xfrm>
          <a:prstGeom prst="rect">
            <a:avLst/>
          </a:prstGeom>
          <a:noFill/>
          <a:ln w="9525">
            <a:noFill/>
            <a:miter lim="800000"/>
            <a:headEnd/>
            <a:tailEnd/>
          </a:ln>
          <a:effectLst/>
        </p:spPr>
        <p:txBody>
          <a:bodyPr vert="horz" wrap="square" lIns="92930" tIns="46465" rIns="92930" bIns="46465" numCol="1" anchor="b" anchorCtr="0" compatLnSpc="1">
            <a:prstTxWarp prst="textNoShape">
              <a:avLst/>
            </a:prstTxWarp>
          </a:bodyPr>
          <a:lstStyle>
            <a:lvl1pPr eaLnBrk="1" hangingPunct="1">
              <a:defRPr sz="1200">
                <a:latin typeface="Arial" charset="0"/>
                <a:ea typeface="+mn-ea"/>
                <a:cs typeface="Arial" charset="0"/>
              </a:defRPr>
            </a:lvl1pPr>
          </a:lstStyle>
          <a:p>
            <a:pPr>
              <a:defRPr/>
            </a:pPr>
            <a:endParaRPr lang="en-US" dirty="0"/>
          </a:p>
        </p:txBody>
      </p:sp>
      <p:sp>
        <p:nvSpPr>
          <p:cNvPr id="47111" name="Rectangle 7"/>
          <p:cNvSpPr>
            <a:spLocks noGrp="1" noChangeArrowheads="1"/>
          </p:cNvSpPr>
          <p:nvPr>
            <p:ph type="sldNum" sz="quarter" idx="5"/>
          </p:nvPr>
        </p:nvSpPr>
        <p:spPr bwMode="auto">
          <a:xfrm>
            <a:off x="5590429" y="6397805"/>
            <a:ext cx="4276779" cy="336788"/>
          </a:xfrm>
          <a:prstGeom prst="rect">
            <a:avLst/>
          </a:prstGeom>
          <a:noFill/>
          <a:ln w="9525">
            <a:noFill/>
            <a:miter lim="800000"/>
            <a:headEnd/>
            <a:tailEnd/>
          </a:ln>
          <a:effectLst/>
        </p:spPr>
        <p:txBody>
          <a:bodyPr vert="horz" wrap="square" lIns="92930" tIns="46465" rIns="92930" bIns="46465" numCol="1" anchor="b" anchorCtr="0" compatLnSpc="1">
            <a:prstTxWarp prst="textNoShape">
              <a:avLst/>
            </a:prstTxWarp>
          </a:bodyPr>
          <a:lstStyle>
            <a:lvl1pPr algn="r" eaLnBrk="1" hangingPunct="1">
              <a:defRPr sz="1200">
                <a:cs typeface="Arial" panose="020B0604020202020204" pitchFamily="34" charset="0"/>
              </a:defRPr>
            </a:lvl1pPr>
          </a:lstStyle>
          <a:p>
            <a:pPr>
              <a:defRPr/>
            </a:pPr>
            <a:fld id="{C62D9B74-FF16-4D34-AF33-91D0E6F48B0D}" type="slidenum">
              <a:rPr lang="en-US"/>
              <a:pPr>
                <a:defRPr/>
              </a:pPr>
              <a:t>‹#›</a:t>
            </a:fld>
            <a:endParaRPr lang="en-US" dirty="0"/>
          </a:p>
        </p:txBody>
      </p:sp>
    </p:spTree>
    <p:extLst>
      <p:ext uri="{BB962C8B-B14F-4D97-AF65-F5344CB8AC3E}">
        <p14:creationId xmlns:p14="http://schemas.microsoft.com/office/powerpoint/2010/main" val="71799672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99102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23370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602388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0" y="2314324"/>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3" y="765324"/>
            <a:ext cx="8245163" cy="1106260"/>
          </a:xfrm>
          <a:effectLst/>
        </p:spPr>
        <p:txBody>
          <a:bodyPr anchor="b">
            <a:normAutofit/>
          </a:bodyPr>
          <a:lstStyle>
            <a:lvl1pPr>
              <a:defRPr sz="27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35898" y="1871586"/>
            <a:ext cx="8245161" cy="442741"/>
          </a:xfrm>
        </p:spPr>
        <p:txBody>
          <a:bodyPr anchor="t">
            <a:normAutofit/>
          </a:bodyPr>
          <a:lstStyle>
            <a:lvl1pPr marL="0" indent="0" algn="l">
              <a:buNone/>
              <a:defRPr sz="1200" cap="all">
                <a:solidFill>
                  <a:schemeClr val="accent2"/>
                </a:solidFill>
              </a:defRPr>
            </a:lvl1pPr>
            <a:lvl2pPr marL="342910" indent="0" algn="ctr">
              <a:buNone/>
              <a:defRPr>
                <a:solidFill>
                  <a:schemeClr val="tx1">
                    <a:tint val="75000"/>
                  </a:schemeClr>
                </a:solidFill>
              </a:defRPr>
            </a:lvl2pPr>
            <a:lvl3pPr marL="685816" indent="0" algn="ctr">
              <a:buNone/>
              <a:defRPr>
                <a:solidFill>
                  <a:schemeClr val="tx1">
                    <a:tint val="75000"/>
                  </a:schemeClr>
                </a:solidFill>
              </a:defRPr>
            </a:lvl3pPr>
            <a:lvl4pPr marL="1028726" indent="0" algn="ctr">
              <a:buNone/>
              <a:defRPr>
                <a:solidFill>
                  <a:schemeClr val="tx1">
                    <a:tint val="75000"/>
                  </a:schemeClr>
                </a:solidFill>
              </a:defRPr>
            </a:lvl4pPr>
            <a:lvl5pPr marL="1371634" indent="0" algn="ctr">
              <a:buNone/>
              <a:defRPr>
                <a:solidFill>
                  <a:schemeClr val="tx1">
                    <a:tint val="75000"/>
                  </a:schemeClr>
                </a:solidFill>
              </a:defRPr>
            </a:lvl5pPr>
            <a:lvl6pPr marL="1714542" indent="0" algn="ctr">
              <a:buNone/>
              <a:defRPr>
                <a:solidFill>
                  <a:schemeClr val="tx1">
                    <a:tint val="75000"/>
                  </a:schemeClr>
                </a:solidFill>
              </a:defRPr>
            </a:lvl6pPr>
            <a:lvl7pPr marL="2057452" indent="0" algn="ctr">
              <a:buNone/>
              <a:defRPr>
                <a:solidFill>
                  <a:schemeClr val="tx1">
                    <a:tint val="75000"/>
                  </a:schemeClr>
                </a:solidFill>
              </a:defRPr>
            </a:lvl7pPr>
            <a:lvl8pPr marL="2400360" indent="0" algn="ctr">
              <a:buNone/>
              <a:defRPr>
                <a:solidFill>
                  <a:schemeClr val="tx1">
                    <a:tint val="75000"/>
                  </a:schemeClr>
                </a:solidFill>
              </a:defRPr>
            </a:lvl8pPr>
            <a:lvl9pPr marL="274326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5704462" y="4467103"/>
            <a:ext cx="2133600" cy="273844"/>
          </a:xfrm>
        </p:spPr>
        <p:txBody>
          <a:bodyPr/>
          <a:lstStyle>
            <a:lvl1pPr>
              <a:defRPr>
                <a:solidFill>
                  <a:schemeClr val="accent1">
                    <a:lumMod val="75000"/>
                    <a:lumOff val="25000"/>
                  </a:schemeClr>
                </a:solidFill>
              </a:defRPr>
            </a:lvl1pPr>
          </a:lstStyle>
          <a:p>
            <a:fld id="{1D7ECDD8-D44E-4456-BC16-A0311727FA49}" type="datetime1">
              <a:rPr lang="en-US" smtClean="0"/>
              <a:t>1/28/2026</a:t>
            </a:fld>
            <a:endParaRPr lang="en-US"/>
          </a:p>
        </p:txBody>
      </p:sp>
      <p:sp>
        <p:nvSpPr>
          <p:cNvPr id="5" name="Footer Placeholder 4"/>
          <p:cNvSpPr>
            <a:spLocks noGrp="1"/>
          </p:cNvSpPr>
          <p:nvPr>
            <p:ph type="ftr" sz="quarter" idx="11"/>
          </p:nvPr>
        </p:nvSpPr>
        <p:spPr>
          <a:xfrm>
            <a:off x="435895" y="4463859"/>
            <a:ext cx="5187908" cy="273844"/>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7918728" y="4467103"/>
            <a:ext cx="762331" cy="273844"/>
          </a:xfrm>
        </p:spPr>
        <p:txBody>
          <a:bodyPr/>
          <a:lstStyle>
            <a:lvl1pPr>
              <a:defRPr>
                <a:solidFill>
                  <a:schemeClr val="accent1">
                    <a:lumMod val="75000"/>
                    <a:lumOff val="25000"/>
                  </a:schemeClr>
                </a:solidFill>
              </a:defRPr>
            </a:lvl1pPr>
          </a:lstStyle>
          <a:p>
            <a:fld id="{D74C958B-560E-487B-A5FD-4D7E98A2579C}" type="slidenum">
              <a:rPr lang="en-US" smtClean="0"/>
              <a:t>‹#›</a:t>
            </a:fld>
            <a:endParaRPr lang="en-US"/>
          </a:p>
        </p:txBody>
      </p:sp>
    </p:spTree>
    <p:extLst>
      <p:ext uri="{BB962C8B-B14F-4D97-AF65-F5344CB8AC3E}">
        <p14:creationId xmlns:p14="http://schemas.microsoft.com/office/powerpoint/2010/main" val="2382761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330218"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8" y="526617"/>
            <a:ext cx="8272212" cy="760350"/>
          </a:xfrm>
        </p:spPr>
        <p:txBody>
          <a:bodyPr/>
          <a:lstStyle/>
          <a:p>
            <a:r>
              <a:rPr lang="en-US"/>
              <a:t>Click to edit Master title style</a:t>
            </a:r>
            <a:endParaRPr lang="en-US" dirty="0"/>
          </a:p>
        </p:txBody>
      </p:sp>
      <p:sp>
        <p:nvSpPr>
          <p:cNvPr id="3" name="Content Placeholder 2"/>
          <p:cNvSpPr>
            <a:spLocks noGrp="1"/>
          </p:cNvSpPr>
          <p:nvPr>
            <p:ph idx="1"/>
          </p:nvPr>
        </p:nvSpPr>
        <p:spPr>
          <a:xfrm>
            <a:off x="435898" y="1635373"/>
            <a:ext cx="8272212" cy="2758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EBFC7A-4104-4D80-A448-FAEC597542FC}"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18728" y="4467103"/>
            <a:ext cx="789381" cy="273844"/>
          </a:xfrm>
        </p:spPr>
        <p:txBody>
          <a:bodyPr/>
          <a:lstStyle/>
          <a:p>
            <a:fld id="{D74C958B-560E-487B-A5FD-4D7E98A2579C}" type="slidenum">
              <a:rPr lang="en-US" smtClean="0"/>
              <a:t>‹#›</a:t>
            </a:fld>
            <a:endParaRPr lang="en-US"/>
          </a:p>
        </p:txBody>
      </p:sp>
    </p:spTree>
    <p:extLst>
      <p:ext uri="{BB962C8B-B14F-4D97-AF65-F5344CB8AC3E}">
        <p14:creationId xmlns:p14="http://schemas.microsoft.com/office/powerpoint/2010/main" val="614031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3856481"/>
            <a:ext cx="8468146"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8" y="2282933"/>
            <a:ext cx="8272212" cy="1123130"/>
          </a:xfrm>
        </p:spPr>
        <p:txBody>
          <a:bodyPr anchor="b">
            <a:normAutofit/>
          </a:bodyPr>
          <a:lstStyle>
            <a:lvl1pPr algn="l">
              <a:defRPr sz="27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8" y="3406065"/>
            <a:ext cx="8272212" cy="450417"/>
          </a:xfrm>
        </p:spPr>
        <p:txBody>
          <a:bodyPr anchor="t">
            <a:normAutofit/>
          </a:bodyPr>
          <a:lstStyle>
            <a:lvl1pPr marL="0" indent="0" algn="l">
              <a:buNone/>
              <a:defRPr sz="1350" cap="all">
                <a:solidFill>
                  <a:schemeClr val="accent2"/>
                </a:solidFill>
              </a:defRPr>
            </a:lvl1pPr>
            <a:lvl2pPr marL="342910" indent="0">
              <a:buNone/>
              <a:defRPr sz="1350">
                <a:solidFill>
                  <a:schemeClr val="tx1">
                    <a:tint val="75000"/>
                  </a:schemeClr>
                </a:solidFill>
              </a:defRPr>
            </a:lvl2pPr>
            <a:lvl3pPr marL="685816" indent="0">
              <a:buNone/>
              <a:defRPr sz="1200">
                <a:solidFill>
                  <a:schemeClr val="tx1">
                    <a:tint val="75000"/>
                  </a:schemeClr>
                </a:solidFill>
              </a:defRPr>
            </a:lvl3pPr>
            <a:lvl4pPr marL="1028726" indent="0">
              <a:buNone/>
              <a:defRPr sz="1050">
                <a:solidFill>
                  <a:schemeClr val="tx1">
                    <a:tint val="75000"/>
                  </a:schemeClr>
                </a:solidFill>
              </a:defRPr>
            </a:lvl4pPr>
            <a:lvl5pPr marL="1371634" indent="0">
              <a:buNone/>
              <a:defRPr sz="1050">
                <a:solidFill>
                  <a:schemeClr val="tx1">
                    <a:tint val="75000"/>
                  </a:schemeClr>
                </a:solidFill>
              </a:defRPr>
            </a:lvl5pPr>
            <a:lvl6pPr marL="1714542" indent="0">
              <a:buNone/>
              <a:defRPr sz="1050">
                <a:solidFill>
                  <a:schemeClr val="tx1">
                    <a:tint val="75000"/>
                  </a:schemeClr>
                </a:solidFill>
              </a:defRPr>
            </a:lvl6pPr>
            <a:lvl7pPr marL="2057452" indent="0">
              <a:buNone/>
              <a:defRPr sz="1050">
                <a:solidFill>
                  <a:schemeClr val="tx1">
                    <a:tint val="75000"/>
                  </a:schemeClr>
                </a:solidFill>
              </a:defRPr>
            </a:lvl7pPr>
            <a:lvl8pPr marL="2400360" indent="0">
              <a:buNone/>
              <a:defRPr sz="1050">
                <a:solidFill>
                  <a:schemeClr val="tx1">
                    <a:tint val="75000"/>
                  </a:schemeClr>
                </a:solidFill>
              </a:defRPr>
            </a:lvl8pPr>
            <a:lvl9pPr marL="27432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3D2480E6-0F4E-4933-BBD2-F486B8477145}" type="datetime1">
              <a:rPr lang="en-US" smtClean="0"/>
              <a:t>1/28/2026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74C958B-560E-487B-A5FD-4D7E98A2579C}" type="slidenum">
              <a:rPr lang="en-US" smtClean="0"/>
              <a:t>‹#›</a:t>
            </a:fld>
            <a:endParaRPr lang="en-US"/>
          </a:p>
        </p:txBody>
      </p:sp>
    </p:spTree>
    <p:extLst>
      <p:ext uri="{BB962C8B-B14F-4D97-AF65-F5344CB8AC3E}">
        <p14:creationId xmlns:p14="http://schemas.microsoft.com/office/powerpoint/2010/main" val="2229582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334490" y="454916"/>
            <a:ext cx="8475028"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8" y="547244"/>
            <a:ext cx="8272212"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8" y="1671005"/>
            <a:ext cx="4066793"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1312" y="1671005"/>
            <a:ext cx="4066795"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0A844C-B1B3-419C-9DB9-698CCDBEB1C9}" type="datetime1">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4C958B-560E-487B-A5FD-4D7E98A2579C}" type="slidenum">
              <a:rPr lang="en-US" smtClean="0"/>
              <a:t>‹#›</a:t>
            </a:fld>
            <a:endParaRPr lang="en-US"/>
          </a:p>
        </p:txBody>
      </p:sp>
    </p:spTree>
    <p:extLst>
      <p:ext uri="{BB962C8B-B14F-4D97-AF65-F5344CB8AC3E}">
        <p14:creationId xmlns:p14="http://schemas.microsoft.com/office/powerpoint/2010/main" val="1421970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334490" y="454916"/>
            <a:ext cx="8475028"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435898" y="547244"/>
            <a:ext cx="8272212"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5415" y="1688169"/>
            <a:ext cx="3815307" cy="402004"/>
          </a:xfrm>
        </p:spPr>
        <p:txBody>
          <a:bodyPr anchor="b">
            <a:noAutofit/>
          </a:bodyPr>
          <a:lstStyle>
            <a:lvl1pPr marL="0" indent="0">
              <a:buNone/>
              <a:defRPr sz="1650" b="0">
                <a:solidFill>
                  <a:schemeClr val="accent2"/>
                </a:solidFill>
              </a:defRPr>
            </a:lvl1pPr>
            <a:lvl2pPr marL="342910" indent="0">
              <a:buNone/>
              <a:defRPr sz="1500" b="1"/>
            </a:lvl2pPr>
            <a:lvl3pPr marL="685816" indent="0">
              <a:buNone/>
              <a:defRPr sz="1350" b="1"/>
            </a:lvl3pPr>
            <a:lvl4pPr marL="1028726" indent="0">
              <a:buNone/>
              <a:defRPr sz="1200" b="1"/>
            </a:lvl4pPr>
            <a:lvl5pPr marL="1371634" indent="0">
              <a:buNone/>
              <a:defRPr sz="1200" b="1"/>
            </a:lvl5pPr>
            <a:lvl6pPr marL="1714542" indent="0">
              <a:buNone/>
              <a:defRPr sz="1200" b="1"/>
            </a:lvl6pPr>
            <a:lvl7pPr marL="2057452" indent="0">
              <a:buNone/>
              <a:defRPr sz="1200" b="1"/>
            </a:lvl7pPr>
            <a:lvl8pPr marL="2400360" indent="0">
              <a:buNone/>
              <a:defRPr sz="1200" b="1"/>
            </a:lvl8pPr>
            <a:lvl9pPr marL="2743268"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7" y="2194540"/>
            <a:ext cx="4044825"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2804" y="1688169"/>
            <a:ext cx="3815305" cy="415030"/>
          </a:xfrm>
        </p:spPr>
        <p:txBody>
          <a:bodyPr anchor="b">
            <a:noAutofit/>
          </a:bodyPr>
          <a:lstStyle>
            <a:lvl1pPr marL="0" indent="0">
              <a:buNone/>
              <a:defRPr sz="1650" b="0">
                <a:solidFill>
                  <a:schemeClr val="accent2"/>
                </a:solidFill>
              </a:defRPr>
            </a:lvl1pPr>
            <a:lvl2pPr marL="342910" indent="0">
              <a:buNone/>
              <a:defRPr sz="1500" b="1"/>
            </a:lvl2pPr>
            <a:lvl3pPr marL="685816" indent="0">
              <a:buNone/>
              <a:defRPr sz="1350" b="1"/>
            </a:lvl3pPr>
            <a:lvl4pPr marL="1028726" indent="0">
              <a:buNone/>
              <a:defRPr sz="1200" b="1"/>
            </a:lvl4pPr>
            <a:lvl5pPr marL="1371634" indent="0">
              <a:buNone/>
              <a:defRPr sz="1200" b="1"/>
            </a:lvl5pPr>
            <a:lvl6pPr marL="1714542" indent="0">
              <a:buNone/>
              <a:defRPr sz="1200" b="1"/>
            </a:lvl6pPr>
            <a:lvl7pPr marL="2057452" indent="0">
              <a:buNone/>
              <a:defRPr sz="1200" b="1"/>
            </a:lvl7pPr>
            <a:lvl8pPr marL="2400360" indent="0">
              <a:buNone/>
              <a:defRPr sz="1200" b="1"/>
            </a:lvl8pPr>
            <a:lvl9pPr marL="27432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282" y="2194540"/>
            <a:ext cx="4044825"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B35C88-B544-4FF2-91DC-FD08B68E75D8}" type="datetime1">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4C958B-560E-487B-A5FD-4D7E98A2579C}" type="slidenum">
              <a:rPr lang="en-US" smtClean="0"/>
              <a:t>‹#›</a:t>
            </a:fld>
            <a:endParaRPr lang="en-US"/>
          </a:p>
        </p:txBody>
      </p:sp>
    </p:spTree>
    <p:extLst>
      <p:ext uri="{BB962C8B-B14F-4D97-AF65-F5344CB8AC3E}">
        <p14:creationId xmlns:p14="http://schemas.microsoft.com/office/powerpoint/2010/main" val="1476504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E4E0582-5787-4C7E-9A38-64712BA2C227}" type="datetime1">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4C958B-560E-487B-A5FD-4D7E98A2579C}" type="slidenum">
              <a:rPr lang="en-US" smtClean="0"/>
              <a:t>‹#›</a:t>
            </a:fld>
            <a:endParaRPr lang="en-US"/>
          </a:p>
        </p:txBody>
      </p:sp>
      <p:sp>
        <p:nvSpPr>
          <p:cNvPr id="7" name="Rectangle 6"/>
          <p:cNvSpPr>
            <a:spLocks noChangeAspect="1"/>
          </p:cNvSpPr>
          <p:nvPr/>
        </p:nvSpPr>
        <p:spPr>
          <a:xfrm>
            <a:off x="330514" y="454916"/>
            <a:ext cx="8475028" cy="944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431922" y="547244"/>
            <a:ext cx="8272212" cy="741249"/>
          </a:xfrm>
        </p:spPr>
        <p:txBody>
          <a:bodyPr/>
          <a:lstStyle/>
          <a:p>
            <a:r>
              <a:rPr lang="en-US"/>
              <a:t>Click to edit Master title style</a:t>
            </a:r>
            <a:endParaRPr lang="en-US" dirty="0"/>
          </a:p>
        </p:txBody>
      </p:sp>
    </p:spTree>
    <p:extLst>
      <p:ext uri="{BB962C8B-B14F-4D97-AF65-F5344CB8AC3E}">
        <p14:creationId xmlns:p14="http://schemas.microsoft.com/office/powerpoint/2010/main" val="144448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8DE7CB-591D-47BA-8322-3A29D5A33E15}" type="datetime1">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4C958B-560E-487B-A5FD-4D7E98A2579C}" type="slidenum">
              <a:rPr lang="en-US" smtClean="0"/>
              <a:t>‹#›</a:t>
            </a:fld>
            <a:endParaRPr lang="en-US"/>
          </a:p>
        </p:txBody>
      </p:sp>
    </p:spTree>
    <p:extLst>
      <p:ext uri="{BB962C8B-B14F-4D97-AF65-F5344CB8AC3E}">
        <p14:creationId xmlns:p14="http://schemas.microsoft.com/office/powerpoint/2010/main" val="3924583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3856480"/>
            <a:ext cx="8473650" cy="9560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3946723"/>
            <a:ext cx="3682084" cy="517136"/>
          </a:xfrm>
        </p:spPr>
        <p:txBody>
          <a:bodyPr anchor="ctr"/>
          <a:lstStyle>
            <a:lvl1pPr algn="l">
              <a:defRPr sz="15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335862" y="450900"/>
            <a:ext cx="8469630" cy="3153600"/>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20" y="3946723"/>
            <a:ext cx="4402491" cy="517136"/>
          </a:xfrm>
        </p:spPr>
        <p:txBody>
          <a:bodyPr anchor="ctr">
            <a:normAutofit/>
          </a:bodyPr>
          <a:lstStyle>
            <a:lvl1pPr marL="0" indent="0" algn="r">
              <a:buNone/>
              <a:defRPr sz="825">
                <a:solidFill>
                  <a:schemeClr val="bg1"/>
                </a:solidFill>
              </a:defRPr>
            </a:lvl1pPr>
            <a:lvl2pPr marL="342910" indent="0">
              <a:buNone/>
              <a:defRPr sz="825"/>
            </a:lvl2pPr>
            <a:lvl3pPr marL="685816" indent="0">
              <a:buNone/>
              <a:defRPr sz="750"/>
            </a:lvl3pPr>
            <a:lvl4pPr marL="1028726" indent="0">
              <a:buNone/>
              <a:defRPr sz="675"/>
            </a:lvl4pPr>
            <a:lvl5pPr marL="1371634" indent="0">
              <a:buNone/>
              <a:defRPr sz="675"/>
            </a:lvl5pPr>
            <a:lvl6pPr marL="1714542" indent="0">
              <a:buNone/>
              <a:defRPr sz="675"/>
            </a:lvl6pPr>
            <a:lvl7pPr marL="2057452" indent="0">
              <a:buNone/>
              <a:defRPr sz="675"/>
            </a:lvl7pPr>
            <a:lvl8pPr marL="2400360" indent="0">
              <a:buNone/>
              <a:defRPr sz="675"/>
            </a:lvl8pPr>
            <a:lvl9pPr marL="27432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0D047B2-8E06-47FB-BE11-5CEF8D1A9DEF}" type="datetime1">
              <a:rPr lang="en-US" smtClean="0"/>
              <a:t>1/28/2026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74C958B-560E-487B-A5FD-4D7E98A2579C}" type="slidenum">
              <a:rPr lang="en-US" smtClean="0"/>
              <a:t>‹#›</a:t>
            </a:fld>
            <a:endParaRPr lang="en-US"/>
          </a:p>
        </p:txBody>
      </p:sp>
    </p:spTree>
    <p:extLst>
      <p:ext uri="{BB962C8B-B14F-4D97-AF65-F5344CB8AC3E}">
        <p14:creationId xmlns:p14="http://schemas.microsoft.com/office/powerpoint/2010/main" val="1653177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8" y="3520042"/>
            <a:ext cx="8272212" cy="425054"/>
          </a:xfrm>
        </p:spPr>
        <p:txBody>
          <a:bodyPr anchor="b">
            <a:normAutofit/>
          </a:bodyPr>
          <a:lstStyle>
            <a:lvl1pPr algn="l">
              <a:defRPr sz="18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6" y="449796"/>
            <a:ext cx="8468144" cy="2667939"/>
          </a:xfrm>
        </p:spPr>
        <p:txBody>
          <a:bodyPr anchor="t">
            <a:normAutofit/>
          </a:bodyPr>
          <a:lstStyle>
            <a:lvl1pPr marL="0" indent="0" algn="ctr">
              <a:buNone/>
              <a:defRPr sz="1200"/>
            </a:lvl1pPr>
            <a:lvl2pPr marL="342910" indent="0">
              <a:buNone/>
              <a:defRPr sz="1200"/>
            </a:lvl2pPr>
            <a:lvl3pPr marL="685816" indent="0">
              <a:buNone/>
              <a:defRPr sz="1200"/>
            </a:lvl3pPr>
            <a:lvl4pPr marL="1028726" indent="0">
              <a:buNone/>
              <a:defRPr sz="1200"/>
            </a:lvl4pPr>
            <a:lvl5pPr marL="1371634" indent="0">
              <a:buNone/>
              <a:defRPr sz="1200"/>
            </a:lvl5pPr>
            <a:lvl6pPr marL="1714542" indent="0">
              <a:buNone/>
              <a:defRPr sz="1200"/>
            </a:lvl6pPr>
            <a:lvl7pPr marL="2057452" indent="0">
              <a:buNone/>
              <a:defRPr sz="1200"/>
            </a:lvl7pPr>
            <a:lvl8pPr marL="2400360" indent="0">
              <a:buNone/>
              <a:defRPr sz="1200"/>
            </a:lvl8pPr>
            <a:lvl9pPr marL="2743268"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5" y="3945097"/>
            <a:ext cx="8272213" cy="449003"/>
          </a:xfrm>
        </p:spPr>
        <p:txBody>
          <a:bodyPr>
            <a:normAutofit/>
          </a:bodyPr>
          <a:lstStyle>
            <a:lvl1pPr marL="0" indent="0">
              <a:buNone/>
              <a:defRPr sz="900"/>
            </a:lvl1pPr>
            <a:lvl2pPr marL="342910" indent="0">
              <a:buNone/>
              <a:defRPr sz="900"/>
            </a:lvl2pPr>
            <a:lvl3pPr marL="685816" indent="0">
              <a:buNone/>
              <a:defRPr sz="750"/>
            </a:lvl3pPr>
            <a:lvl4pPr marL="1028726" indent="0">
              <a:buNone/>
              <a:defRPr sz="675"/>
            </a:lvl4pPr>
            <a:lvl5pPr marL="1371634" indent="0">
              <a:buNone/>
              <a:defRPr sz="675"/>
            </a:lvl5pPr>
            <a:lvl6pPr marL="1714542" indent="0">
              <a:buNone/>
              <a:defRPr sz="675"/>
            </a:lvl6pPr>
            <a:lvl7pPr marL="2057452" indent="0">
              <a:buNone/>
              <a:defRPr sz="675"/>
            </a:lvl7pPr>
            <a:lvl8pPr marL="2400360" indent="0">
              <a:buNone/>
              <a:defRPr sz="675"/>
            </a:lvl8pPr>
            <a:lvl9pPr marL="27432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28097BF-04B7-4AFF-96FA-E602D37CC722}" type="datetime1">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4C958B-560E-487B-A5FD-4D7E98A2579C}" type="slidenum">
              <a:rPr lang="en-US" smtClean="0"/>
              <a:t>‹#›</a:t>
            </a:fld>
            <a:endParaRPr lang="en-US"/>
          </a:p>
        </p:txBody>
      </p:sp>
    </p:spTree>
    <p:extLst>
      <p:ext uri="{BB962C8B-B14F-4D97-AF65-F5344CB8AC3E}">
        <p14:creationId xmlns:p14="http://schemas.microsoft.com/office/powerpoint/2010/main" val="604363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330218" y="460805"/>
            <a:ext cx="8482004" cy="89197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435898" y="526617"/>
            <a:ext cx="8272212"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25C818-FA55-4CBE-AF3A-5087AF3F19B8}"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4C958B-560E-487B-A5FD-4D7E98A2579C}" type="slidenum">
              <a:rPr lang="en-US" smtClean="0"/>
              <a:t>‹#›</a:t>
            </a:fld>
            <a:endParaRPr lang="en-US"/>
          </a:p>
        </p:txBody>
      </p:sp>
    </p:spTree>
    <p:extLst>
      <p:ext uri="{BB962C8B-B14F-4D97-AF65-F5344CB8AC3E}">
        <p14:creationId xmlns:p14="http://schemas.microsoft.com/office/powerpoint/2010/main" val="1366917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1" y="449796"/>
            <a:ext cx="2180114" cy="436271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3" y="506797"/>
            <a:ext cx="1503124" cy="38873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5" y="506797"/>
            <a:ext cx="5922210" cy="388730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4467103"/>
            <a:ext cx="996107" cy="273844"/>
          </a:xfrm>
        </p:spPr>
        <p:txBody>
          <a:bodyPr/>
          <a:lstStyle>
            <a:lvl1pPr>
              <a:defRPr>
                <a:solidFill>
                  <a:schemeClr val="accent1">
                    <a:lumMod val="75000"/>
                    <a:lumOff val="25000"/>
                  </a:schemeClr>
                </a:solidFill>
              </a:defRPr>
            </a:lvl1pPr>
          </a:lstStyle>
          <a:p>
            <a:fld id="{35D1FAF7-FF9A-4212-B766-93B327AE09E1}" type="datetime1">
              <a:rPr lang="en-US" smtClean="0"/>
              <a:t>1/28/2026</a:t>
            </a:fld>
            <a:endParaRPr lang="en-US"/>
          </a:p>
        </p:txBody>
      </p:sp>
      <p:sp>
        <p:nvSpPr>
          <p:cNvPr id="5" name="Footer Placeholder 4"/>
          <p:cNvSpPr>
            <a:spLocks noGrp="1"/>
          </p:cNvSpPr>
          <p:nvPr>
            <p:ph type="ftr" sz="quarter" idx="11"/>
          </p:nvPr>
        </p:nvSpPr>
        <p:spPr>
          <a:xfrm>
            <a:off x="581195" y="4463859"/>
            <a:ext cx="5922210" cy="273844"/>
          </a:xfrm>
        </p:spPr>
        <p:txBody>
          <a:bodyPr/>
          <a:lstStyle/>
          <a:p>
            <a:endParaRPr lang="en-US"/>
          </a:p>
        </p:txBody>
      </p:sp>
      <p:sp>
        <p:nvSpPr>
          <p:cNvPr id="6" name="Slide Number Placeholder 5"/>
          <p:cNvSpPr>
            <a:spLocks noGrp="1"/>
          </p:cNvSpPr>
          <p:nvPr>
            <p:ph type="sldNum" sz="quarter" idx="12"/>
          </p:nvPr>
        </p:nvSpPr>
        <p:spPr>
          <a:xfrm>
            <a:off x="7834964" y="4467103"/>
            <a:ext cx="873147" cy="273844"/>
          </a:xfrm>
        </p:spPr>
        <p:txBody>
          <a:bodyPr/>
          <a:lstStyle>
            <a:lvl1pPr>
              <a:defRPr>
                <a:solidFill>
                  <a:schemeClr val="accent1">
                    <a:lumMod val="75000"/>
                    <a:lumOff val="25000"/>
                  </a:schemeClr>
                </a:solidFill>
              </a:defRPr>
            </a:lvl1pPr>
          </a:lstStyle>
          <a:p>
            <a:fld id="{D74C958B-560E-487B-A5FD-4D7E98A2579C}" type="slidenum">
              <a:rPr lang="en-US" smtClean="0"/>
              <a:t>‹#›</a:t>
            </a:fld>
            <a:endParaRPr lang="en-US"/>
          </a:p>
        </p:txBody>
      </p:sp>
    </p:spTree>
    <p:extLst>
      <p:ext uri="{BB962C8B-B14F-4D97-AF65-F5344CB8AC3E}">
        <p14:creationId xmlns:p14="http://schemas.microsoft.com/office/powerpoint/2010/main" val="2663392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8" y="528843"/>
            <a:ext cx="8272212"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8" y="1752002"/>
            <a:ext cx="8272212" cy="2642096"/>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9" y="4467103"/>
            <a:ext cx="2133598" cy="273844"/>
          </a:xfrm>
          <a:prstGeom prst="rect">
            <a:avLst/>
          </a:prstGeom>
        </p:spPr>
        <p:txBody>
          <a:bodyPr vert="horz" lIns="91440" tIns="45720" rIns="91440" bIns="45720" rtlCol="0" anchor="ctr"/>
          <a:lstStyle>
            <a:lvl1pPr algn="r">
              <a:defRPr sz="675">
                <a:solidFill>
                  <a:schemeClr val="accent2"/>
                </a:solidFill>
              </a:defRPr>
            </a:lvl1pPr>
          </a:lstStyle>
          <a:p>
            <a:fld id="{EFFC6534-3E47-417C-B01A-40251ACAED8B}" type="datetime1">
              <a:rPr lang="en-US" smtClean="0"/>
              <a:t>1/28/2026</a:t>
            </a:fld>
            <a:endParaRPr lang="en-US"/>
          </a:p>
        </p:txBody>
      </p:sp>
      <p:sp>
        <p:nvSpPr>
          <p:cNvPr id="5" name="Footer Placeholder 4"/>
          <p:cNvSpPr>
            <a:spLocks noGrp="1"/>
          </p:cNvSpPr>
          <p:nvPr>
            <p:ph type="ftr" sz="quarter" idx="3"/>
          </p:nvPr>
        </p:nvSpPr>
        <p:spPr>
          <a:xfrm>
            <a:off x="435895" y="4463859"/>
            <a:ext cx="5187908" cy="273844"/>
          </a:xfrm>
          <a:prstGeom prst="rect">
            <a:avLst/>
          </a:prstGeom>
        </p:spPr>
        <p:txBody>
          <a:bodyPr vert="horz" lIns="91440" tIns="45720" rIns="91440" bIns="45720" rtlCol="0" anchor="ctr"/>
          <a:lstStyle>
            <a:lvl1pPr algn="l">
              <a:defRPr sz="675" cap="all">
                <a:solidFill>
                  <a:schemeClr val="accent2"/>
                </a:solidFill>
              </a:defRPr>
            </a:lvl1pPr>
          </a:lstStyle>
          <a:p>
            <a:endParaRPr lang="en-US"/>
          </a:p>
        </p:txBody>
      </p:sp>
      <p:sp>
        <p:nvSpPr>
          <p:cNvPr id="6" name="Slide Number Placeholder 5"/>
          <p:cNvSpPr>
            <a:spLocks noGrp="1"/>
          </p:cNvSpPr>
          <p:nvPr>
            <p:ph type="sldNum" sz="quarter" idx="4"/>
          </p:nvPr>
        </p:nvSpPr>
        <p:spPr>
          <a:xfrm>
            <a:off x="7918725" y="4467103"/>
            <a:ext cx="789383" cy="273844"/>
          </a:xfrm>
          <a:prstGeom prst="rect">
            <a:avLst/>
          </a:prstGeom>
        </p:spPr>
        <p:txBody>
          <a:bodyPr vert="horz" lIns="91440" tIns="45720" rIns="91440" bIns="45720" rtlCol="0" anchor="ctr"/>
          <a:lstStyle>
            <a:lvl1pPr algn="r">
              <a:defRPr sz="675">
                <a:solidFill>
                  <a:schemeClr val="accent2"/>
                </a:solidFill>
              </a:defRPr>
            </a:lvl1pPr>
          </a:lstStyle>
          <a:p>
            <a:fld id="{D74C958B-560E-487B-A5FD-4D7E98A2579C}" type="slidenum">
              <a:rPr lang="en-US" smtClean="0"/>
              <a:t>‹#›</a:t>
            </a:fld>
            <a:endParaRPr lang="en-US"/>
          </a:p>
        </p:txBody>
      </p:sp>
      <p:sp>
        <p:nvSpPr>
          <p:cNvPr id="9" name="Rectangle 8"/>
          <p:cNvSpPr/>
          <p:nvPr/>
        </p:nvSpPr>
        <p:spPr>
          <a:xfrm>
            <a:off x="334901" y="342900"/>
            <a:ext cx="2777490" cy="712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6031611" y="340232"/>
            <a:ext cx="2777490" cy="73916"/>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181372" y="342900"/>
            <a:ext cx="2777490" cy="6858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31067236"/>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Lst>
  <p:hf hdr="0" ftr="0"/>
  <p:txStyles>
    <p:titleStyle>
      <a:lvl1pPr algn="l" defTabSz="34291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6" indent="-229506"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1350" kern="1200">
          <a:solidFill>
            <a:schemeClr val="tx2"/>
          </a:solidFill>
          <a:latin typeface="+mn-lt"/>
          <a:ea typeface="+mn-ea"/>
          <a:cs typeface="+mn-cs"/>
        </a:defRPr>
      </a:lvl1pPr>
      <a:lvl2pPr marL="472512" indent="-229506"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2pPr>
      <a:lvl3pPr marL="675016" indent="-202506"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1050" kern="1200">
          <a:solidFill>
            <a:schemeClr val="tx2"/>
          </a:solidFill>
          <a:latin typeface="+mn-lt"/>
          <a:ea typeface="+mn-ea"/>
          <a:cs typeface="+mn-cs"/>
        </a:defRPr>
      </a:lvl3pPr>
      <a:lvl4pPr marL="931524" indent="-175504"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4pPr>
      <a:lvl5pPr marL="1201530" indent="-175504"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5pPr>
      <a:lvl6pPr marL="1425036" indent="-171454"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41" indent="-171454"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47" indent="-171454"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52" indent="-171454" algn="l" defTabSz="34291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10" rtl="0" eaLnBrk="1" latinLnBrk="0" hangingPunct="1">
        <a:defRPr sz="1350" kern="1200">
          <a:solidFill>
            <a:schemeClr val="tx1"/>
          </a:solidFill>
          <a:latin typeface="+mn-lt"/>
          <a:ea typeface="+mn-ea"/>
          <a:cs typeface="+mn-cs"/>
        </a:defRPr>
      </a:lvl1pPr>
      <a:lvl2pPr marL="342910" algn="l" defTabSz="342910" rtl="0" eaLnBrk="1" latinLnBrk="0" hangingPunct="1">
        <a:defRPr sz="1350" kern="1200">
          <a:solidFill>
            <a:schemeClr val="tx1"/>
          </a:solidFill>
          <a:latin typeface="+mn-lt"/>
          <a:ea typeface="+mn-ea"/>
          <a:cs typeface="+mn-cs"/>
        </a:defRPr>
      </a:lvl2pPr>
      <a:lvl3pPr marL="685816" algn="l" defTabSz="342910" rtl="0" eaLnBrk="1" latinLnBrk="0" hangingPunct="1">
        <a:defRPr sz="1350" kern="1200">
          <a:solidFill>
            <a:schemeClr val="tx1"/>
          </a:solidFill>
          <a:latin typeface="+mn-lt"/>
          <a:ea typeface="+mn-ea"/>
          <a:cs typeface="+mn-cs"/>
        </a:defRPr>
      </a:lvl3pPr>
      <a:lvl4pPr marL="1028726" algn="l" defTabSz="342910" rtl="0" eaLnBrk="1" latinLnBrk="0" hangingPunct="1">
        <a:defRPr sz="1350" kern="1200">
          <a:solidFill>
            <a:schemeClr val="tx1"/>
          </a:solidFill>
          <a:latin typeface="+mn-lt"/>
          <a:ea typeface="+mn-ea"/>
          <a:cs typeface="+mn-cs"/>
        </a:defRPr>
      </a:lvl4pPr>
      <a:lvl5pPr marL="1371634" algn="l" defTabSz="342910" rtl="0" eaLnBrk="1" latinLnBrk="0" hangingPunct="1">
        <a:defRPr sz="1350" kern="1200">
          <a:solidFill>
            <a:schemeClr val="tx1"/>
          </a:solidFill>
          <a:latin typeface="+mn-lt"/>
          <a:ea typeface="+mn-ea"/>
          <a:cs typeface="+mn-cs"/>
        </a:defRPr>
      </a:lvl5pPr>
      <a:lvl6pPr marL="1714542" algn="l" defTabSz="342910" rtl="0" eaLnBrk="1" latinLnBrk="0" hangingPunct="1">
        <a:defRPr sz="1350" kern="1200">
          <a:solidFill>
            <a:schemeClr val="tx1"/>
          </a:solidFill>
          <a:latin typeface="+mn-lt"/>
          <a:ea typeface="+mn-ea"/>
          <a:cs typeface="+mn-cs"/>
        </a:defRPr>
      </a:lvl6pPr>
      <a:lvl7pPr marL="2057452" algn="l" defTabSz="342910" rtl="0" eaLnBrk="1" latinLnBrk="0" hangingPunct="1">
        <a:defRPr sz="1350" kern="1200">
          <a:solidFill>
            <a:schemeClr val="tx1"/>
          </a:solidFill>
          <a:latin typeface="+mn-lt"/>
          <a:ea typeface="+mn-ea"/>
          <a:cs typeface="+mn-cs"/>
        </a:defRPr>
      </a:lvl7pPr>
      <a:lvl8pPr marL="2400360" algn="l" defTabSz="342910" rtl="0" eaLnBrk="1" latinLnBrk="0" hangingPunct="1">
        <a:defRPr sz="1350" kern="1200">
          <a:solidFill>
            <a:schemeClr val="tx1"/>
          </a:solidFill>
          <a:latin typeface="+mn-lt"/>
          <a:ea typeface="+mn-ea"/>
          <a:cs typeface="+mn-cs"/>
        </a:defRPr>
      </a:lvl8pPr>
      <a:lvl9pPr marL="2743268" algn="l" defTabSz="34291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hyperlink" Target="https://owasp.org/www-project-top-ten/" TargetMode="External"/><Relationship Id="rId7" Type="http://schemas.openxmlformats.org/officeDocument/2006/relationships/hyperlink" Target="https://www.w3.org/" TargetMode="External"/><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hyperlink" Target="https://www.zaproxy.org/documentation/" TargetMode="External"/><Relationship Id="rId5" Type="http://schemas.openxmlformats.org/officeDocument/2006/relationships/hyperlink" Target="https://docs.python.org/3/" TargetMode="External"/><Relationship Id="rId4" Type="http://schemas.openxmlformats.org/officeDocument/2006/relationships/hyperlink" Target="https://flask.palletsprojects.c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08384655-5212-2E6B-5348-F0EA2A289BBB}"/>
              </a:ext>
            </a:extLst>
          </p:cNvPr>
          <p:cNvSpPr>
            <a:spLocks noGrp="1"/>
          </p:cNvSpPr>
          <p:nvPr>
            <p:ph type="dt" sz="half" idx="10"/>
          </p:nvPr>
        </p:nvSpPr>
        <p:spPr>
          <a:xfrm>
            <a:off x="7696200" y="4738444"/>
            <a:ext cx="990600" cy="273844"/>
          </a:xfrm>
        </p:spPr>
        <p:txBody>
          <a:bodyPr/>
          <a:lstStyle/>
          <a:p>
            <a:r>
              <a:rPr lang="en-US" b="1" dirty="0"/>
              <a:t>Presentation Date</a:t>
            </a:r>
          </a:p>
          <a:p>
            <a:pPr algn="l"/>
            <a:r>
              <a:rPr lang="en-US" b="1" dirty="0"/>
              <a:t>   24.04.2026</a:t>
            </a:r>
          </a:p>
        </p:txBody>
      </p:sp>
      <p:sp>
        <p:nvSpPr>
          <p:cNvPr id="7" name="TextBox 6">
            <a:extLst>
              <a:ext uri="{FF2B5EF4-FFF2-40B4-BE49-F238E27FC236}">
                <a16:creationId xmlns:a16="http://schemas.microsoft.com/office/drawing/2014/main" id="{3CE37A1D-279B-F351-9F78-4F1E3A0738D1}"/>
              </a:ext>
            </a:extLst>
          </p:cNvPr>
          <p:cNvSpPr txBox="1"/>
          <p:nvPr/>
        </p:nvSpPr>
        <p:spPr>
          <a:xfrm>
            <a:off x="380999" y="1325999"/>
            <a:ext cx="8382000" cy="1169551"/>
          </a:xfrm>
          <a:prstGeom prst="rect">
            <a:avLst/>
          </a:prstGeom>
          <a:noFill/>
        </p:spPr>
        <p:txBody>
          <a:bodyPr wrap="square">
            <a:spAutoFit/>
          </a:bodyPr>
          <a:lstStyle/>
          <a:p>
            <a:pPr algn="ctr"/>
            <a:r>
              <a:rPr kumimoji="0" lang="en-US"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Major Project</a:t>
            </a:r>
            <a:r>
              <a:rPr kumimoji="0" lang="en-US" altLang="en-US" sz="1400" b="0" i="0" u="none" strike="noStrike" kern="1200" cap="none" spc="0" normalizeH="0" baseline="0" noProof="0" dirty="0">
                <a:ln>
                  <a:noFill/>
                </a:ln>
                <a:effectLst/>
                <a:uLnTx/>
                <a:uFillTx/>
                <a:latin typeface="Times New Roman" panose="02020603050405020304" pitchFamily="18" charset="0"/>
                <a:ea typeface="+mn-ea"/>
                <a:cs typeface="Times New Roman" panose="02020603050405020304" pitchFamily="18" charset="0"/>
              </a:rPr>
              <a:t> </a:t>
            </a:r>
            <a:r>
              <a:rPr lang="en-US" altLang="en-US" sz="1400" dirty="0">
                <a:solidFill>
                  <a:schemeClr val="tx1"/>
                </a:solidFill>
                <a:latin typeface="Times New Roman" panose="02020603050405020304" pitchFamily="18" charset="0"/>
                <a:cs typeface="Times New Roman" panose="02020603050405020304" pitchFamily="18" charset="0"/>
              </a:rPr>
              <a:t>Presentation </a:t>
            </a:r>
            <a:br>
              <a:rPr lang="en-US" altLang="en-US" sz="1400" dirty="0">
                <a:solidFill>
                  <a:schemeClr val="tx1"/>
                </a:solidFill>
                <a:latin typeface="Times New Roman" panose="02020603050405020304" pitchFamily="18" charset="0"/>
                <a:cs typeface="Times New Roman" panose="02020603050405020304" pitchFamily="18" charset="0"/>
              </a:rPr>
            </a:br>
            <a:r>
              <a:rPr lang="en-US" altLang="en-US" sz="1400" dirty="0">
                <a:solidFill>
                  <a:schemeClr val="tx1"/>
                </a:solidFill>
                <a:latin typeface="Times New Roman" panose="02020603050405020304" pitchFamily="18" charset="0"/>
                <a:cs typeface="Times New Roman" panose="02020603050405020304" pitchFamily="18" charset="0"/>
              </a:rPr>
              <a:t>on</a:t>
            </a:r>
            <a:br>
              <a:rPr lang="en-US" altLang="en-US" sz="1200" dirty="0">
                <a:solidFill>
                  <a:schemeClr val="tx1"/>
                </a:solidFill>
                <a:latin typeface="Times New Roman" panose="02020603050405020304" pitchFamily="18" charset="0"/>
                <a:cs typeface="Times New Roman" panose="02020603050405020304" pitchFamily="18" charset="0"/>
              </a:rPr>
            </a:br>
            <a:r>
              <a:rPr lang="en-IN" altLang="en-US" sz="1400" dirty="0">
                <a:solidFill>
                  <a:srgbClr val="FF0000"/>
                </a:solidFill>
                <a:latin typeface="Times New Roman" panose="02020603050405020304" pitchFamily="18" charset="0"/>
                <a:cs typeface="Times New Roman" panose="02020603050405020304" pitchFamily="18" charset="0"/>
              </a:rPr>
              <a:t>Sudarshan – An Automated Web Vulnerability Scanner</a:t>
            </a:r>
            <a:br>
              <a:rPr lang="en-US" altLang="en-US" sz="1200" dirty="0">
                <a:solidFill>
                  <a:schemeClr val="tx1"/>
                </a:solidFill>
                <a:latin typeface="Times New Roman" panose="02020603050405020304" pitchFamily="18" charset="0"/>
                <a:cs typeface="Times New Roman" panose="02020603050405020304" pitchFamily="18" charset="0"/>
              </a:rPr>
            </a:br>
            <a:r>
              <a:rPr lang="en-US" altLang="en-US" sz="1400" dirty="0">
                <a:solidFill>
                  <a:schemeClr val="tx1"/>
                </a:solidFill>
                <a:latin typeface="Times New Roman" panose="02020603050405020304" pitchFamily="18" charset="0"/>
                <a:cs typeface="Times New Roman" panose="02020603050405020304" pitchFamily="18" charset="0"/>
              </a:rPr>
              <a:t>for the End </a:t>
            </a:r>
            <a:r>
              <a:rPr lang="en-US" altLang="en-US" sz="1400" dirty="0" err="1">
                <a:solidFill>
                  <a:schemeClr val="tx1"/>
                </a:solidFill>
                <a:latin typeface="Times New Roman" panose="02020603050405020304" pitchFamily="18" charset="0"/>
                <a:cs typeface="Times New Roman" panose="02020603050405020304" pitchFamily="18" charset="0"/>
              </a:rPr>
              <a:t>Sem</a:t>
            </a:r>
            <a:r>
              <a:rPr lang="en-US" altLang="en-US" sz="1400" dirty="0">
                <a:solidFill>
                  <a:schemeClr val="tx1"/>
                </a:solidFill>
                <a:latin typeface="Times New Roman" panose="02020603050405020304" pitchFamily="18" charset="0"/>
                <a:cs typeface="Times New Roman" panose="02020603050405020304" pitchFamily="18" charset="0"/>
              </a:rPr>
              <a:t> </a:t>
            </a:r>
            <a:r>
              <a:rPr lang="en-US" altLang="en-US" sz="1400" dirty="0">
                <a:latin typeface="Times New Roman" panose="02020603050405020304" pitchFamily="18" charset="0"/>
                <a:cs typeface="Times New Roman" panose="02020603050405020304" pitchFamily="18" charset="0"/>
              </a:rPr>
              <a:t>Exam</a:t>
            </a:r>
            <a:br>
              <a:rPr lang="en-US" altLang="en-US" sz="1400" dirty="0">
                <a:solidFill>
                  <a:schemeClr val="tx1"/>
                </a:solidFill>
                <a:latin typeface="Times New Roman" panose="02020603050405020304" pitchFamily="18" charset="0"/>
                <a:cs typeface="Times New Roman" panose="02020603050405020304" pitchFamily="18" charset="0"/>
              </a:rPr>
            </a:br>
            <a:r>
              <a:rPr lang="en-US" altLang="en-US" sz="1400" dirty="0">
                <a:latin typeface="Times New Roman" panose="02020603050405020304" pitchFamily="18" charset="0"/>
                <a:cs typeface="Times New Roman" panose="02020603050405020304" pitchFamily="18" charset="0"/>
              </a:rPr>
              <a:t>BCA VI </a:t>
            </a:r>
            <a:r>
              <a:rPr lang="en-US" altLang="en-US" sz="1400" dirty="0" err="1">
                <a:latin typeface="Times New Roman" panose="02020603050405020304" pitchFamily="18" charset="0"/>
                <a:cs typeface="Times New Roman" panose="02020603050405020304" pitchFamily="18" charset="0"/>
              </a:rPr>
              <a:t>Sem</a:t>
            </a:r>
            <a:endParaRPr lang="en-IN" sz="1200" dirty="0"/>
          </a:p>
        </p:txBody>
      </p:sp>
      <p:sp>
        <p:nvSpPr>
          <p:cNvPr id="13" name="TextBox 12">
            <a:extLst>
              <a:ext uri="{FF2B5EF4-FFF2-40B4-BE49-F238E27FC236}">
                <a16:creationId xmlns:a16="http://schemas.microsoft.com/office/drawing/2014/main" id="{B0EAB2B5-4DC7-FEFD-C7E3-77CD7D068669}"/>
              </a:ext>
            </a:extLst>
          </p:cNvPr>
          <p:cNvSpPr txBox="1"/>
          <p:nvPr/>
        </p:nvSpPr>
        <p:spPr>
          <a:xfrm>
            <a:off x="2286000" y="3276948"/>
            <a:ext cx="4572000" cy="1077218"/>
          </a:xfrm>
          <a:prstGeom prst="rect">
            <a:avLst/>
          </a:prstGeom>
          <a:noFill/>
        </p:spPr>
        <p:txBody>
          <a:bodyPr wrap="square">
            <a:spAutoFit/>
          </a:bodyPr>
          <a:lstStyle/>
          <a:p>
            <a:pPr algn="ctr"/>
            <a:r>
              <a:rPr lang="en-US" altLang="en-US" sz="1600" dirty="0">
                <a:solidFill>
                  <a:schemeClr val="tx1"/>
                </a:solidFill>
                <a:latin typeface="Times New Roman" panose="02020603050405020304" pitchFamily="18" charset="0"/>
                <a:cs typeface="Times New Roman" panose="02020603050405020304" pitchFamily="18" charset="0"/>
              </a:rPr>
              <a:t> Under supervision of</a:t>
            </a:r>
            <a:br>
              <a:rPr lang="en-US" altLang="en-US" sz="1600" dirty="0">
                <a:solidFill>
                  <a:schemeClr val="tx1"/>
                </a:solidFill>
                <a:latin typeface="Times New Roman" panose="02020603050405020304" pitchFamily="18" charset="0"/>
                <a:cs typeface="Times New Roman" panose="02020603050405020304" pitchFamily="18" charset="0"/>
              </a:rPr>
            </a:br>
            <a:r>
              <a:rPr lang="en-US" altLang="en-US" sz="1600" dirty="0">
                <a:solidFill>
                  <a:srgbClr val="FF0000"/>
                </a:solidFill>
                <a:latin typeface="Times New Roman" panose="02020603050405020304" pitchFamily="18" charset="0"/>
                <a:cs typeface="Times New Roman" panose="02020603050405020304" pitchFamily="18" charset="0"/>
              </a:rPr>
              <a:t> </a:t>
            </a:r>
            <a:r>
              <a:rPr lang="en-US" altLang="en-US" sz="1600" dirty="0" err="1">
                <a:solidFill>
                  <a:srgbClr val="FF0000"/>
                </a:solidFill>
                <a:latin typeface="Times New Roman" panose="02020603050405020304" pitchFamily="18" charset="0"/>
                <a:cs typeface="Times New Roman" panose="02020603050405020304" pitchFamily="18" charset="0"/>
              </a:rPr>
              <a:t>Ms</a:t>
            </a:r>
            <a:r>
              <a:rPr lang="en-US" altLang="en-US" sz="1600" dirty="0">
                <a:solidFill>
                  <a:srgbClr val="FF0000"/>
                </a:solidFill>
                <a:latin typeface="Times New Roman" panose="02020603050405020304" pitchFamily="18" charset="0"/>
                <a:cs typeface="Times New Roman" panose="02020603050405020304" pitchFamily="18" charset="0"/>
              </a:rPr>
              <a:t> </a:t>
            </a:r>
            <a:r>
              <a:rPr lang="en-US" sz="1600" dirty="0">
                <a:solidFill>
                  <a:srgbClr val="FF0000"/>
                </a:solidFill>
                <a:latin typeface="Times New Roman"/>
                <a:ea typeface="Times New Roman"/>
                <a:cs typeface="Times New Roman"/>
                <a:sym typeface="Times New Roman"/>
              </a:rPr>
              <a:t>Anushka Bhardwaj</a:t>
            </a:r>
            <a:br>
              <a:rPr lang="en-US" altLang="en-US" sz="1600" dirty="0">
                <a:solidFill>
                  <a:srgbClr val="FF0000"/>
                </a:solidFill>
                <a:latin typeface="Times New Roman" panose="02020603050405020304" pitchFamily="18" charset="0"/>
                <a:cs typeface="Times New Roman" panose="02020603050405020304" pitchFamily="18" charset="0"/>
              </a:rPr>
            </a:br>
            <a:r>
              <a:rPr lang="en-US" altLang="en-US" sz="1600" dirty="0">
                <a:solidFill>
                  <a:schemeClr val="tx1"/>
                </a:solidFill>
                <a:latin typeface="Times New Roman" panose="02020603050405020304" pitchFamily="18" charset="0"/>
                <a:cs typeface="Times New Roman" panose="02020603050405020304" pitchFamily="18" charset="0"/>
              </a:rPr>
              <a:t>Assistant Professor</a:t>
            </a:r>
            <a:br>
              <a:rPr lang="en-US" altLang="en-US" sz="1600" dirty="0">
                <a:solidFill>
                  <a:schemeClr val="tx1"/>
                </a:solidFill>
                <a:latin typeface="Times New Roman" panose="02020603050405020304" pitchFamily="18" charset="0"/>
                <a:cs typeface="Times New Roman" panose="02020603050405020304" pitchFamily="18" charset="0"/>
              </a:rPr>
            </a:br>
            <a:r>
              <a:rPr lang="en-US" altLang="en-US" sz="1600" dirty="0">
                <a:solidFill>
                  <a:schemeClr val="tx1"/>
                </a:solidFill>
                <a:latin typeface="Times New Roman" panose="02020603050405020304" pitchFamily="18" charset="0"/>
                <a:cs typeface="Times New Roman" panose="02020603050405020304" pitchFamily="18" charset="0"/>
              </a:rPr>
              <a:t>Department of </a:t>
            </a:r>
            <a:r>
              <a:rPr lang="en-US" altLang="en-US" sz="1600" dirty="0">
                <a:solidFill>
                  <a:srgbClr val="FF0000"/>
                </a:solidFill>
                <a:latin typeface="Times New Roman" panose="02020603050405020304" pitchFamily="18" charset="0"/>
                <a:cs typeface="Times New Roman" panose="02020603050405020304" pitchFamily="18" charset="0"/>
              </a:rPr>
              <a:t>Computer Science &amp; Applications</a:t>
            </a:r>
            <a:endParaRPr lang="en-IN" sz="1600" dirty="0"/>
          </a:p>
        </p:txBody>
      </p:sp>
      <p:sp>
        <p:nvSpPr>
          <p:cNvPr id="15" name="TextBox 14">
            <a:extLst>
              <a:ext uri="{FF2B5EF4-FFF2-40B4-BE49-F238E27FC236}">
                <a16:creationId xmlns:a16="http://schemas.microsoft.com/office/drawing/2014/main" id="{838C0CC1-1121-F88E-63D8-CB49E99BA85B}"/>
              </a:ext>
            </a:extLst>
          </p:cNvPr>
          <p:cNvSpPr txBox="1"/>
          <p:nvPr/>
        </p:nvSpPr>
        <p:spPr>
          <a:xfrm>
            <a:off x="2285999" y="4415177"/>
            <a:ext cx="4572000" cy="461665"/>
          </a:xfrm>
          <a:prstGeom prst="rect">
            <a:avLst/>
          </a:prstGeom>
          <a:noFill/>
        </p:spPr>
        <p:txBody>
          <a:bodyPr wrap="square">
            <a:spAutoFit/>
          </a:bodyPr>
          <a:lstStyle/>
          <a:p>
            <a:pPr algn="ctr"/>
            <a:r>
              <a:rPr lang="en-US" altLang="en-US" sz="1200" dirty="0">
                <a:solidFill>
                  <a:srgbClr val="FF0000"/>
                </a:solidFill>
                <a:latin typeface="Times New Roman" panose="02020603050405020304" pitchFamily="18" charset="0"/>
                <a:cs typeface="Times New Roman" panose="02020603050405020304" pitchFamily="18" charset="0"/>
              </a:rPr>
              <a:t>Faculty of Computer Science and Applications                           </a:t>
            </a:r>
            <a:r>
              <a:rPr lang="en-US" altLang="en-US" sz="1200" dirty="0">
                <a:solidFill>
                  <a:schemeClr val="tx1"/>
                </a:solidFill>
                <a:latin typeface="Times New Roman" panose="02020603050405020304" pitchFamily="18" charset="0"/>
                <a:cs typeface="Times New Roman" panose="02020603050405020304" pitchFamily="18" charset="0"/>
              </a:rPr>
              <a:t>Poornima University, Jaipur</a:t>
            </a:r>
            <a:endParaRPr lang="en-IN" sz="1200" dirty="0"/>
          </a:p>
        </p:txBody>
      </p:sp>
      <p:pic>
        <p:nvPicPr>
          <p:cNvPr id="17" name="Picture 16" descr="Poornima Logo.png">
            <a:extLst>
              <a:ext uri="{FF2B5EF4-FFF2-40B4-BE49-F238E27FC236}">
                <a16:creationId xmlns:a16="http://schemas.microsoft.com/office/drawing/2014/main" id="{3F744185-AF1E-7495-40D6-4D28552FB795}"/>
              </a:ext>
            </a:extLst>
          </p:cNvPr>
          <p:cNvPicPr/>
          <p:nvPr/>
        </p:nvPicPr>
        <p:blipFill>
          <a:blip r:embed="rId2"/>
          <a:srcRect l="1533" r="23955" b="56219"/>
          <a:stretch>
            <a:fillRect/>
          </a:stretch>
        </p:blipFill>
        <p:spPr>
          <a:xfrm>
            <a:off x="2681287" y="418169"/>
            <a:ext cx="3781425" cy="873797"/>
          </a:xfrm>
          <a:prstGeom prst="rect">
            <a:avLst/>
          </a:prstGeom>
        </p:spPr>
      </p:pic>
      <p:sp>
        <p:nvSpPr>
          <p:cNvPr id="8" name="Slide Number Placeholder 8">
            <a:extLst>
              <a:ext uri="{FF2B5EF4-FFF2-40B4-BE49-F238E27FC236}">
                <a16:creationId xmlns:a16="http://schemas.microsoft.com/office/drawing/2014/main" id="{15EC2832-011A-523B-42E2-828A30CE597B}"/>
              </a:ext>
            </a:extLst>
          </p:cNvPr>
          <p:cNvSpPr>
            <a:spLocks noGrp="1"/>
          </p:cNvSpPr>
          <p:nvPr>
            <p:ph type="sldNum" sz="quarter" idx="12"/>
          </p:nvPr>
        </p:nvSpPr>
        <p:spPr>
          <a:xfrm>
            <a:off x="8153400" y="4776387"/>
            <a:ext cx="789383" cy="273844"/>
          </a:xfrm>
        </p:spPr>
        <p:txBody>
          <a:bodyPr/>
          <a:lstStyle/>
          <a:p>
            <a:r>
              <a:rPr lang="en-US" dirty="0"/>
              <a:t>1</a:t>
            </a:r>
          </a:p>
        </p:txBody>
      </p:sp>
      <p:sp>
        <p:nvSpPr>
          <p:cNvPr id="2" name="TextBox 1">
            <a:extLst>
              <a:ext uri="{FF2B5EF4-FFF2-40B4-BE49-F238E27FC236}">
                <a16:creationId xmlns:a16="http://schemas.microsoft.com/office/drawing/2014/main" id="{509D4050-B7AF-30A3-E4BA-338CF07473A0}"/>
              </a:ext>
            </a:extLst>
          </p:cNvPr>
          <p:cNvSpPr txBox="1"/>
          <p:nvPr/>
        </p:nvSpPr>
        <p:spPr>
          <a:xfrm>
            <a:off x="1752600" y="2581186"/>
            <a:ext cx="1905000" cy="600164"/>
          </a:xfrm>
          <a:prstGeom prst="rect">
            <a:avLst/>
          </a:prstGeom>
          <a:noFill/>
        </p:spPr>
        <p:txBody>
          <a:bodyPr wrap="square" rtlCol="0">
            <a:spAutoFit/>
          </a:bodyPr>
          <a:lstStyle/>
          <a:p>
            <a:pPr algn="ctr"/>
            <a:r>
              <a:rPr lang="en-US" altLang="en-US" sz="1100" dirty="0">
                <a:solidFill>
                  <a:srgbClr val="FF0000"/>
                </a:solidFill>
                <a:latin typeface="Times New Roman" panose="02020603050405020304" pitchFamily="18" charset="0"/>
                <a:cs typeface="Times New Roman" panose="02020603050405020304" pitchFamily="18" charset="0"/>
              </a:rPr>
              <a:t>Vedansh Gupta</a:t>
            </a:r>
            <a:br>
              <a:rPr lang="en-US" altLang="en-US" sz="1100" dirty="0">
                <a:solidFill>
                  <a:srgbClr val="FF0000"/>
                </a:solidFill>
                <a:latin typeface="Times New Roman" panose="02020603050405020304" pitchFamily="18" charset="0"/>
                <a:cs typeface="Times New Roman" panose="02020603050405020304" pitchFamily="18" charset="0"/>
              </a:rPr>
            </a:br>
            <a:r>
              <a:rPr lang="en-US" altLang="en-US" sz="1100" dirty="0">
                <a:solidFill>
                  <a:srgbClr val="FF0000"/>
                </a:solidFill>
                <a:latin typeface="Times New Roman" panose="02020603050405020304" pitchFamily="18" charset="0"/>
                <a:cs typeface="Times New Roman" panose="02020603050405020304" pitchFamily="18" charset="0"/>
              </a:rPr>
              <a:t>2023PUFCEBCAX13516</a:t>
            </a:r>
          </a:p>
          <a:p>
            <a:pPr algn="ctr"/>
            <a:r>
              <a:rPr lang="en-US" altLang="en-US" sz="1100" dirty="0">
                <a:solidFill>
                  <a:srgbClr val="FF0000"/>
                </a:solidFill>
                <a:latin typeface="Times New Roman" panose="02020603050405020304" pitchFamily="18" charset="0"/>
                <a:cs typeface="Times New Roman" panose="02020603050405020304" pitchFamily="18" charset="0"/>
              </a:rPr>
              <a:t>BCA - General</a:t>
            </a:r>
          </a:p>
        </p:txBody>
      </p:sp>
      <p:sp>
        <p:nvSpPr>
          <p:cNvPr id="3" name="TextBox 2">
            <a:extLst>
              <a:ext uri="{FF2B5EF4-FFF2-40B4-BE49-F238E27FC236}">
                <a16:creationId xmlns:a16="http://schemas.microsoft.com/office/drawing/2014/main" id="{DFFEF87C-BD61-5296-D56C-05A460D5E52D}"/>
              </a:ext>
            </a:extLst>
          </p:cNvPr>
          <p:cNvSpPr txBox="1"/>
          <p:nvPr/>
        </p:nvSpPr>
        <p:spPr>
          <a:xfrm>
            <a:off x="3657600" y="2581186"/>
            <a:ext cx="1676399" cy="600164"/>
          </a:xfrm>
          <a:prstGeom prst="rect">
            <a:avLst/>
          </a:prstGeom>
          <a:noFill/>
        </p:spPr>
        <p:txBody>
          <a:bodyPr wrap="square" rtlCol="0">
            <a:spAutoFit/>
          </a:bodyPr>
          <a:lstStyle/>
          <a:p>
            <a:pPr algn="ctr"/>
            <a:r>
              <a:rPr lang="en-US" altLang="en-US" sz="1100" dirty="0" err="1">
                <a:solidFill>
                  <a:srgbClr val="FF0000"/>
                </a:solidFill>
                <a:latin typeface="Times New Roman" panose="02020603050405020304" pitchFamily="18" charset="0"/>
                <a:cs typeface="Times New Roman" panose="02020603050405020304" pitchFamily="18" charset="0"/>
              </a:rPr>
              <a:t>Tanishqa</a:t>
            </a:r>
            <a:r>
              <a:rPr lang="en-US" altLang="en-US" sz="1100" dirty="0">
                <a:solidFill>
                  <a:srgbClr val="FF0000"/>
                </a:solidFill>
                <a:latin typeface="Times New Roman" panose="02020603050405020304" pitchFamily="18" charset="0"/>
                <a:cs typeface="Times New Roman" panose="02020603050405020304" pitchFamily="18" charset="0"/>
              </a:rPr>
              <a:t> Sharma</a:t>
            </a:r>
            <a:br>
              <a:rPr lang="en-US" altLang="en-US" sz="1100" dirty="0">
                <a:solidFill>
                  <a:srgbClr val="FF0000"/>
                </a:solidFill>
                <a:latin typeface="Times New Roman" panose="02020603050405020304" pitchFamily="18" charset="0"/>
                <a:cs typeface="Times New Roman" panose="02020603050405020304" pitchFamily="18" charset="0"/>
              </a:rPr>
            </a:br>
            <a:r>
              <a:rPr lang="en-US" altLang="en-US" sz="1100" dirty="0">
                <a:solidFill>
                  <a:srgbClr val="FF0000"/>
                </a:solidFill>
                <a:latin typeface="Times New Roman" panose="02020603050405020304" pitchFamily="18" charset="0"/>
                <a:cs typeface="Times New Roman" panose="02020603050405020304" pitchFamily="18" charset="0"/>
              </a:rPr>
              <a:t>2023PUFCEBCAX1440</a:t>
            </a:r>
          </a:p>
          <a:p>
            <a:pPr algn="ctr"/>
            <a:r>
              <a:rPr lang="en-US" altLang="en-US" sz="1100" dirty="0">
                <a:solidFill>
                  <a:srgbClr val="FF0000"/>
                </a:solidFill>
                <a:latin typeface="Times New Roman" panose="02020603050405020304" pitchFamily="18" charset="0"/>
                <a:cs typeface="Times New Roman" panose="02020603050405020304" pitchFamily="18" charset="0"/>
              </a:rPr>
              <a:t>BCA - General</a:t>
            </a:r>
          </a:p>
        </p:txBody>
      </p:sp>
      <p:sp>
        <p:nvSpPr>
          <p:cNvPr id="4" name="TextBox 3">
            <a:extLst>
              <a:ext uri="{FF2B5EF4-FFF2-40B4-BE49-F238E27FC236}">
                <a16:creationId xmlns:a16="http://schemas.microsoft.com/office/drawing/2014/main" id="{BFEA7461-FA74-AD03-B6AB-59B3A48F8B06}"/>
              </a:ext>
            </a:extLst>
          </p:cNvPr>
          <p:cNvSpPr txBox="1"/>
          <p:nvPr/>
        </p:nvSpPr>
        <p:spPr>
          <a:xfrm>
            <a:off x="5564777" y="2581186"/>
            <a:ext cx="1752601" cy="600164"/>
          </a:xfrm>
          <a:prstGeom prst="rect">
            <a:avLst/>
          </a:prstGeom>
          <a:noFill/>
        </p:spPr>
        <p:txBody>
          <a:bodyPr wrap="square" rtlCol="0">
            <a:spAutoFit/>
          </a:bodyPr>
          <a:lstStyle/>
          <a:p>
            <a:pPr algn="ctr"/>
            <a:r>
              <a:rPr lang="en-US" altLang="en-US" sz="1100" dirty="0">
                <a:solidFill>
                  <a:srgbClr val="FF0000"/>
                </a:solidFill>
                <a:latin typeface="Times New Roman" panose="02020603050405020304" pitchFamily="18" charset="0"/>
                <a:cs typeface="Times New Roman" panose="02020603050405020304" pitchFamily="18" charset="0"/>
              </a:rPr>
              <a:t>Tushant Yadav</a:t>
            </a:r>
            <a:br>
              <a:rPr lang="en-US" altLang="en-US" sz="1100" dirty="0">
                <a:solidFill>
                  <a:srgbClr val="FF0000"/>
                </a:solidFill>
                <a:latin typeface="Times New Roman" panose="02020603050405020304" pitchFamily="18" charset="0"/>
                <a:cs typeface="Times New Roman" panose="02020603050405020304" pitchFamily="18" charset="0"/>
              </a:rPr>
            </a:br>
            <a:r>
              <a:rPr lang="en-US" altLang="en-US" sz="1100" dirty="0">
                <a:solidFill>
                  <a:srgbClr val="FF0000"/>
                </a:solidFill>
                <a:latin typeface="Times New Roman" panose="02020603050405020304" pitchFamily="18" charset="0"/>
                <a:cs typeface="Times New Roman" panose="02020603050405020304" pitchFamily="18" charset="0"/>
              </a:rPr>
              <a:t>2023PUFCEBCAX14146</a:t>
            </a:r>
          </a:p>
          <a:p>
            <a:pPr algn="ctr"/>
            <a:r>
              <a:rPr lang="en-US" altLang="en-US" sz="1100" dirty="0">
                <a:solidFill>
                  <a:srgbClr val="FF0000"/>
                </a:solidFill>
                <a:latin typeface="Times New Roman" panose="02020603050405020304" pitchFamily="18" charset="0"/>
                <a:cs typeface="Times New Roman" panose="02020603050405020304" pitchFamily="18" charset="0"/>
              </a:rPr>
              <a:t>BCA - General</a:t>
            </a:r>
          </a:p>
        </p:txBody>
      </p:sp>
    </p:spTree>
    <p:extLst>
      <p:ext uri="{BB962C8B-B14F-4D97-AF65-F5344CB8AC3E}">
        <p14:creationId xmlns:p14="http://schemas.microsoft.com/office/powerpoint/2010/main" val="1977436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8325AF-BBFB-4CAF-9528-0116759478E1}"/>
              </a:ext>
            </a:extLst>
          </p:cNvPr>
          <p:cNvSpPr>
            <a:spLocks noChangeArrowheads="1"/>
          </p:cNvSpPr>
          <p:nvPr/>
        </p:nvSpPr>
        <p:spPr bwMode="auto">
          <a:xfrm>
            <a:off x="381000" y="410108"/>
            <a:ext cx="8481389" cy="76035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600"/>
              </a:spcAft>
            </a:pPr>
            <a:r>
              <a:rPr lang="en-US" altLang="en-US" sz="2100" cap="all" dirty="0">
                <a:solidFill>
                  <a:schemeClr val="bg1"/>
                </a:solidFill>
                <a:latin typeface="+mj-lt"/>
                <a:ea typeface="+mj-ea"/>
                <a:cs typeface="+mj-cs"/>
              </a:rPr>
              <a:t>Contents</a:t>
            </a:r>
          </a:p>
        </p:txBody>
      </p:sp>
      <p:sp>
        <p:nvSpPr>
          <p:cNvPr id="7" name="Date Placeholder 6">
            <a:extLst>
              <a:ext uri="{FF2B5EF4-FFF2-40B4-BE49-F238E27FC236}">
                <a16:creationId xmlns:a16="http://schemas.microsoft.com/office/drawing/2014/main" id="{9F995F18-7DE4-696E-C650-A380DDC73EBC}"/>
              </a:ext>
            </a:extLst>
          </p:cNvPr>
          <p:cNvSpPr>
            <a:spLocks noGrp="1"/>
          </p:cNvSpPr>
          <p:nvPr>
            <p:ph type="dt" sz="half" idx="10"/>
          </p:nvPr>
        </p:nvSpPr>
        <p:spPr/>
        <p:txBody>
          <a:bodyPr/>
          <a:lstStyle/>
          <a:p>
            <a:fld id="{5C7D6118-8736-4876-A86B-90FC2D9F4C8A}" type="datetime1">
              <a:rPr lang="en-US" smtClean="0"/>
              <a:t>1/28/2026</a:t>
            </a:fld>
            <a:endParaRPr lang="en-US"/>
          </a:p>
        </p:txBody>
      </p:sp>
      <p:sp>
        <p:nvSpPr>
          <p:cNvPr id="9" name="Slide Number Placeholder 8">
            <a:extLst>
              <a:ext uri="{FF2B5EF4-FFF2-40B4-BE49-F238E27FC236}">
                <a16:creationId xmlns:a16="http://schemas.microsoft.com/office/drawing/2014/main" id="{15EC2832-011A-523B-42E2-828A30CE597B}"/>
              </a:ext>
            </a:extLst>
          </p:cNvPr>
          <p:cNvSpPr>
            <a:spLocks noGrp="1"/>
          </p:cNvSpPr>
          <p:nvPr>
            <p:ph type="sldNum" sz="quarter" idx="12"/>
          </p:nvPr>
        </p:nvSpPr>
        <p:spPr/>
        <p:txBody>
          <a:bodyPr/>
          <a:lstStyle/>
          <a:p>
            <a:fld id="{D74C958B-560E-487B-A5FD-4D7E98A2579C}" type="slidenum">
              <a:rPr lang="en-US" smtClean="0"/>
              <a:t>2</a:t>
            </a:fld>
            <a:endParaRPr lang="en-US" dirty="0"/>
          </a:p>
        </p:txBody>
      </p:sp>
      <p:sp>
        <p:nvSpPr>
          <p:cNvPr id="5" name="Rectangle 2">
            <a:extLst>
              <a:ext uri="{FF2B5EF4-FFF2-40B4-BE49-F238E27FC236}">
                <a16:creationId xmlns:a16="http://schemas.microsoft.com/office/drawing/2014/main" id="{54780A0A-DC65-B555-3B69-7C56EFB1D883}"/>
              </a:ext>
            </a:extLst>
          </p:cNvPr>
          <p:cNvSpPr>
            <a:spLocks noChangeArrowheads="1"/>
          </p:cNvSpPr>
          <p:nvPr/>
        </p:nvSpPr>
        <p:spPr bwMode="auto">
          <a:xfrm>
            <a:off x="503196" y="1434480"/>
            <a:ext cx="3690434" cy="36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(Overview, Problem Statement, Importance)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Objectives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Key goals of the project)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Literature Review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Background research and related works)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Methodology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Tools, techniques, and framework used)</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System Design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Architecture, flowcharts, block diagrams)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Implementation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Programming languages, tools, datasets)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Results &amp; Analysis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Graphs, tables, performance metrics)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Challenges &amp; Limitations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Issues faced, constraints)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Future Scope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Possible enhancements, scalability)</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Conclusion (</a:t>
            </a:r>
            <a:r>
              <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rPr>
              <a:t>Summary of findings)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1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100" b="1" dirty="0">
                <a:solidFill>
                  <a:schemeClr val="tx1">
                    <a:lumMod val="75000"/>
                    <a:lumOff val="25000"/>
                  </a:schemeClr>
                </a:solidFill>
                <a:latin typeface="Times New Roman" panose="02020603050405020304" pitchFamily="18" charset="0"/>
                <a:cs typeface="Times New Roman" panose="02020603050405020304" pitchFamily="18" charset="0"/>
              </a:rPr>
              <a:t>References</a:t>
            </a:r>
          </a:p>
        </p:txBody>
      </p:sp>
      <p:pic>
        <p:nvPicPr>
          <p:cNvPr id="8" name="Picture 7">
            <a:extLst>
              <a:ext uri="{FF2B5EF4-FFF2-40B4-BE49-F238E27FC236}">
                <a16:creationId xmlns:a16="http://schemas.microsoft.com/office/drawing/2014/main" id="{CE715A19-3A75-99D2-F97D-B3B6E27EA443}"/>
              </a:ext>
            </a:extLst>
          </p:cNvPr>
          <p:cNvPicPr>
            <a:picLocks noChangeAspect="1"/>
          </p:cNvPicPr>
          <p:nvPr/>
        </p:nvPicPr>
        <p:blipFill>
          <a:blip r:embed="rId3"/>
          <a:stretch>
            <a:fillRect/>
          </a:stretch>
        </p:blipFill>
        <p:spPr>
          <a:xfrm>
            <a:off x="7657946" y="514350"/>
            <a:ext cx="1105054" cy="838200"/>
          </a:xfrm>
          <a:prstGeom prst="rect">
            <a:avLst/>
          </a:prstGeom>
        </p:spPr>
      </p:pic>
    </p:spTree>
    <p:extLst>
      <p:ext uri="{BB962C8B-B14F-4D97-AF65-F5344CB8AC3E}">
        <p14:creationId xmlns:p14="http://schemas.microsoft.com/office/powerpoint/2010/main" val="36972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65C90F-70CE-6B35-EFC0-2D2AC0923A20}"/>
              </a:ext>
            </a:extLst>
          </p:cNvPr>
          <p:cNvSpPr>
            <a:spLocks noGrp="1"/>
          </p:cNvSpPr>
          <p:nvPr>
            <p:ph type="dt" sz="half" idx="10"/>
          </p:nvPr>
        </p:nvSpPr>
        <p:spPr>
          <a:xfrm>
            <a:off x="5867400" y="4736306"/>
            <a:ext cx="2133598" cy="273844"/>
          </a:xfrm>
        </p:spPr>
        <p:txBody>
          <a:bodyPr/>
          <a:lstStyle/>
          <a:p>
            <a:fld id="{8E4E0582-5787-4C7E-9A38-64712BA2C227}" type="datetime1">
              <a:rPr lang="en-US" smtClean="0"/>
              <a:t>1/28/2026</a:t>
            </a:fld>
            <a:endParaRPr lang="en-US" dirty="0"/>
          </a:p>
        </p:txBody>
      </p:sp>
      <p:sp>
        <p:nvSpPr>
          <p:cNvPr id="3" name="Slide Number Placeholder 2">
            <a:extLst>
              <a:ext uri="{FF2B5EF4-FFF2-40B4-BE49-F238E27FC236}">
                <a16:creationId xmlns:a16="http://schemas.microsoft.com/office/drawing/2014/main" id="{877FE9B4-F1B4-71FA-58D7-DF20E82E3A8E}"/>
              </a:ext>
            </a:extLst>
          </p:cNvPr>
          <p:cNvSpPr>
            <a:spLocks noGrp="1"/>
          </p:cNvSpPr>
          <p:nvPr>
            <p:ph type="sldNum" sz="quarter" idx="12"/>
          </p:nvPr>
        </p:nvSpPr>
        <p:spPr>
          <a:xfrm>
            <a:off x="8000998" y="4736306"/>
            <a:ext cx="789383" cy="273844"/>
          </a:xfrm>
        </p:spPr>
        <p:txBody>
          <a:bodyPr/>
          <a:lstStyle/>
          <a:p>
            <a:fld id="{D74C958B-560E-487B-A5FD-4D7E98A2579C}" type="slidenum">
              <a:rPr lang="en-US" smtClean="0"/>
              <a:t>3</a:t>
            </a:fld>
            <a:endParaRPr lang="en-US" dirty="0"/>
          </a:p>
        </p:txBody>
      </p:sp>
      <p:sp>
        <p:nvSpPr>
          <p:cNvPr id="4" name="Title 3">
            <a:extLst>
              <a:ext uri="{FF2B5EF4-FFF2-40B4-BE49-F238E27FC236}">
                <a16:creationId xmlns:a16="http://schemas.microsoft.com/office/drawing/2014/main" id="{72A8D3A3-E646-90AC-E2CD-C35EFCD7D176}"/>
              </a:ext>
            </a:extLst>
          </p:cNvPr>
          <p:cNvSpPr>
            <a:spLocks noGrp="1"/>
          </p:cNvSpPr>
          <p:nvPr>
            <p:ph type="title"/>
          </p:nvPr>
        </p:nvSpPr>
        <p:spPr>
          <a:xfrm>
            <a:off x="431922" y="547244"/>
            <a:ext cx="8272212" cy="576705"/>
          </a:xfrm>
        </p:spPr>
        <p:txBody>
          <a:bodyPr>
            <a:normAutofit/>
          </a:bodyPr>
          <a:lstStyle/>
          <a:p>
            <a:r>
              <a:rPr lang="en-IN" dirty="0"/>
              <a:t>Introduction</a:t>
            </a:r>
          </a:p>
        </p:txBody>
      </p:sp>
      <p:pic>
        <p:nvPicPr>
          <p:cNvPr id="7" name="Picture 6">
            <a:extLst>
              <a:ext uri="{FF2B5EF4-FFF2-40B4-BE49-F238E27FC236}">
                <a16:creationId xmlns:a16="http://schemas.microsoft.com/office/drawing/2014/main" id="{AC952CD2-191B-15AD-C35B-AAD71711D73F}"/>
              </a:ext>
            </a:extLst>
          </p:cNvPr>
          <p:cNvPicPr>
            <a:picLocks noChangeAspect="1"/>
          </p:cNvPicPr>
          <p:nvPr/>
        </p:nvPicPr>
        <p:blipFill>
          <a:blip r:embed="rId3"/>
          <a:stretch>
            <a:fillRect/>
          </a:stretch>
        </p:blipFill>
        <p:spPr>
          <a:xfrm>
            <a:off x="7620000" y="514350"/>
            <a:ext cx="1143000" cy="838200"/>
          </a:xfrm>
          <a:prstGeom prst="rect">
            <a:avLst/>
          </a:prstGeom>
        </p:spPr>
      </p:pic>
      <p:sp>
        <p:nvSpPr>
          <p:cNvPr id="5" name="TextBox 4">
            <a:extLst>
              <a:ext uri="{FF2B5EF4-FFF2-40B4-BE49-F238E27FC236}">
                <a16:creationId xmlns:a16="http://schemas.microsoft.com/office/drawing/2014/main" id="{2FD02F89-EDD7-FD99-12E4-7FD62C184D00}"/>
              </a:ext>
            </a:extLst>
          </p:cNvPr>
          <p:cNvSpPr txBox="1"/>
          <p:nvPr/>
        </p:nvSpPr>
        <p:spPr>
          <a:xfrm>
            <a:off x="304800" y="1844841"/>
            <a:ext cx="5399669" cy="2785378"/>
          </a:xfrm>
          <a:prstGeom prst="rect">
            <a:avLst/>
          </a:prstGeom>
          <a:noFill/>
        </p:spPr>
        <p:txBody>
          <a:bodyPr wrap="square" rtlCol="0">
            <a:spAutoFit/>
          </a:bodyPr>
          <a:lstStyle/>
          <a:p>
            <a:r>
              <a:rPr lang="en-US" sz="1250" b="1" dirty="0">
                <a:latin typeface="Arial" panose="020B0604020202020204" pitchFamily="34" charset="0"/>
                <a:cs typeface="Arial" panose="020B0604020202020204" pitchFamily="34" charset="0"/>
              </a:rPr>
              <a:t>Sudarshan </a:t>
            </a:r>
            <a:r>
              <a:rPr lang="en-US" sz="1250" dirty="0">
                <a:latin typeface="Arial" panose="020B0604020202020204" pitchFamily="34" charset="0"/>
                <a:cs typeface="Arial" panose="020B0604020202020204" pitchFamily="34" charset="0"/>
              </a:rPr>
              <a:t>is a </a:t>
            </a:r>
            <a:r>
              <a:rPr lang="en-US" sz="1250" b="1" dirty="0">
                <a:latin typeface="Arial" panose="020B0604020202020204" pitchFamily="34" charset="0"/>
                <a:cs typeface="Arial" panose="020B0604020202020204" pitchFamily="34" charset="0"/>
              </a:rPr>
              <a:t>web-based cybersecurity platform </a:t>
            </a:r>
            <a:r>
              <a:rPr lang="en-US" sz="1250" dirty="0">
                <a:latin typeface="Arial" panose="020B0604020202020204" pitchFamily="34" charset="0"/>
                <a:cs typeface="Arial" panose="020B0604020202020204" pitchFamily="34" charset="0"/>
              </a:rPr>
              <a:t>designed to help </a:t>
            </a:r>
            <a:r>
              <a:rPr lang="en-US" sz="1250" b="1" dirty="0">
                <a:latin typeface="Arial" panose="020B0604020202020204" pitchFamily="34" charset="0"/>
                <a:cs typeface="Arial" panose="020B0604020202020204" pitchFamily="34" charset="0"/>
              </a:rPr>
              <a:t>developers, students, and security analysts </a:t>
            </a:r>
            <a:r>
              <a:rPr lang="en-US" sz="1250" dirty="0">
                <a:latin typeface="Arial" panose="020B0604020202020204" pitchFamily="34" charset="0"/>
                <a:cs typeface="Arial" panose="020B0604020202020204" pitchFamily="34" charset="0"/>
              </a:rPr>
              <a:t>identify common security weaknesses in web applications. The system focuses on </a:t>
            </a:r>
            <a:r>
              <a:rPr lang="en-US" sz="1250" b="1" dirty="0">
                <a:latin typeface="Arial" panose="020B0604020202020204" pitchFamily="34" charset="0"/>
                <a:cs typeface="Arial" panose="020B0604020202020204" pitchFamily="34" charset="0"/>
              </a:rPr>
              <a:t>automating vulnerability detection</a:t>
            </a:r>
            <a:r>
              <a:rPr lang="en-US" sz="1250" dirty="0">
                <a:latin typeface="Arial" panose="020B0604020202020204" pitchFamily="34" charset="0"/>
                <a:cs typeface="Arial" panose="020B0604020202020204" pitchFamily="34" charset="0"/>
              </a:rPr>
              <a:t> and providing clear insights into potential security risks during the early stages of application deployment.</a:t>
            </a:r>
          </a:p>
          <a:p>
            <a:endParaRPr lang="en-US" sz="1250" dirty="0">
              <a:latin typeface="Arial" panose="020B0604020202020204" pitchFamily="34" charset="0"/>
              <a:cs typeface="Arial" panose="020B0604020202020204" pitchFamily="34" charset="0"/>
            </a:endParaRPr>
          </a:p>
          <a:p>
            <a:r>
              <a:rPr lang="en-US" sz="1250" dirty="0">
                <a:latin typeface="Arial" panose="020B0604020202020204" pitchFamily="34" charset="0"/>
                <a:cs typeface="Arial" panose="020B0604020202020204" pitchFamily="34" charset="0"/>
              </a:rPr>
              <a:t>By combining </a:t>
            </a:r>
            <a:r>
              <a:rPr lang="en-US" sz="1250" b="1" dirty="0">
                <a:latin typeface="Arial" panose="020B0604020202020204" pitchFamily="34" charset="0"/>
                <a:cs typeface="Arial" panose="020B0604020202020204" pitchFamily="34" charset="0"/>
              </a:rPr>
              <a:t>automated crawling, payload injection, and response analysis</a:t>
            </a:r>
            <a:r>
              <a:rPr lang="en-US" sz="1250" dirty="0">
                <a:latin typeface="Arial" panose="020B0604020202020204" pitchFamily="34" charset="0"/>
                <a:cs typeface="Arial" panose="020B0604020202020204" pitchFamily="34" charset="0"/>
              </a:rPr>
              <a:t>, the platform assists in identifying vulnerabilities such as </a:t>
            </a:r>
            <a:r>
              <a:rPr lang="en-US" sz="1250" b="1" dirty="0">
                <a:latin typeface="Arial" panose="020B0604020202020204" pitchFamily="34" charset="0"/>
                <a:cs typeface="Arial" panose="020B0604020202020204" pitchFamily="34" charset="0"/>
              </a:rPr>
              <a:t>SQL Injection, Cross-Site Scripting (XSS), and security misconfigurations.</a:t>
            </a:r>
            <a:r>
              <a:rPr lang="en-US" sz="1250" dirty="0">
                <a:latin typeface="Arial" panose="020B0604020202020204" pitchFamily="34" charset="0"/>
                <a:cs typeface="Arial" panose="020B0604020202020204" pitchFamily="34" charset="0"/>
              </a:rPr>
              <a:t> The tool emphasizes </a:t>
            </a:r>
            <a:r>
              <a:rPr lang="en-US" sz="1250" b="1" dirty="0">
                <a:latin typeface="Arial" panose="020B0604020202020204" pitchFamily="34" charset="0"/>
                <a:cs typeface="Arial" panose="020B0604020202020204" pitchFamily="34" charset="0"/>
              </a:rPr>
              <a:t>usability, real-time feedback, and educational value, </a:t>
            </a:r>
            <a:r>
              <a:rPr lang="en-US" sz="1250" dirty="0">
                <a:latin typeface="Arial" panose="020B0604020202020204" pitchFamily="34" charset="0"/>
                <a:cs typeface="Arial" panose="020B0604020202020204" pitchFamily="34" charset="0"/>
              </a:rPr>
              <a:t>making it suitable for academic and authorized security testing.</a:t>
            </a:r>
          </a:p>
          <a:p>
            <a:endParaRPr lang="en-US" sz="1250" dirty="0">
              <a:latin typeface="Arial" panose="020B0604020202020204" pitchFamily="34" charset="0"/>
              <a:cs typeface="Arial" panose="020B0604020202020204" pitchFamily="34" charset="0"/>
            </a:endParaRPr>
          </a:p>
          <a:p>
            <a:r>
              <a:rPr lang="en-US" sz="1250" b="1" dirty="0">
                <a:latin typeface="Arial" panose="020B0604020202020204" pitchFamily="34" charset="0"/>
                <a:cs typeface="Arial" panose="020B0604020202020204" pitchFamily="34" charset="0"/>
              </a:rPr>
              <a:t>“Detect vulnerabilities before attackers do.”</a:t>
            </a:r>
          </a:p>
        </p:txBody>
      </p:sp>
      <p:pic>
        <p:nvPicPr>
          <p:cNvPr id="10" name="Picture 9">
            <a:extLst>
              <a:ext uri="{FF2B5EF4-FFF2-40B4-BE49-F238E27FC236}">
                <a16:creationId xmlns:a16="http://schemas.microsoft.com/office/drawing/2014/main" id="{8B96A7CF-530D-D502-94F5-3965BE91D2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30663" y="1524000"/>
            <a:ext cx="3105150" cy="3105150"/>
          </a:xfrm>
          <a:prstGeom prst="rect">
            <a:avLst/>
          </a:prstGeom>
        </p:spPr>
      </p:pic>
    </p:spTree>
    <p:extLst>
      <p:ext uri="{BB962C8B-B14F-4D97-AF65-F5344CB8AC3E}">
        <p14:creationId xmlns:p14="http://schemas.microsoft.com/office/powerpoint/2010/main" val="1836783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F7DDB-EEBF-CE4B-6946-5B34A6099F2D}"/>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7CC06009-9C25-1B8A-FC2B-E2766AFCA84B}"/>
              </a:ext>
            </a:extLst>
          </p:cNvPr>
          <p:cNvSpPr>
            <a:spLocks noGrp="1"/>
          </p:cNvSpPr>
          <p:nvPr>
            <p:ph type="sldNum" sz="quarter" idx="12"/>
          </p:nvPr>
        </p:nvSpPr>
        <p:spPr/>
        <p:txBody>
          <a:bodyPr/>
          <a:lstStyle/>
          <a:p>
            <a:fld id="{D74C958B-560E-487B-A5FD-4D7E98A2579C}" type="slidenum">
              <a:rPr lang="en-US" smtClean="0"/>
              <a:t>4</a:t>
            </a:fld>
            <a:endParaRPr lang="en-US"/>
          </a:p>
        </p:txBody>
      </p:sp>
      <p:sp>
        <p:nvSpPr>
          <p:cNvPr id="4" name="Title 3">
            <a:extLst>
              <a:ext uri="{FF2B5EF4-FFF2-40B4-BE49-F238E27FC236}">
                <a16:creationId xmlns:a16="http://schemas.microsoft.com/office/drawing/2014/main" id="{2F1F31E9-C026-2D6E-05FF-451CE47FA63A}"/>
              </a:ext>
            </a:extLst>
          </p:cNvPr>
          <p:cNvSpPr>
            <a:spLocks noGrp="1"/>
          </p:cNvSpPr>
          <p:nvPr>
            <p:ph type="title"/>
          </p:nvPr>
        </p:nvSpPr>
        <p:spPr>
          <a:xfrm>
            <a:off x="431922" y="547245"/>
            <a:ext cx="8272212" cy="576706"/>
          </a:xfrm>
        </p:spPr>
        <p:txBody>
          <a:bodyPr/>
          <a:lstStyle/>
          <a:p>
            <a:r>
              <a:rPr lang="en-US" altLang="en-US" sz="2400" cap="none" dirty="0">
                <a:cs typeface="Times New Roman" panose="02020603050405020304" pitchFamily="18" charset="0"/>
              </a:rPr>
              <a:t>Problem Statement</a:t>
            </a:r>
            <a:endParaRPr lang="en-IN" dirty="0"/>
          </a:p>
        </p:txBody>
      </p:sp>
      <p:sp>
        <p:nvSpPr>
          <p:cNvPr id="5" name="TextBox 4">
            <a:extLst>
              <a:ext uri="{FF2B5EF4-FFF2-40B4-BE49-F238E27FC236}">
                <a16:creationId xmlns:a16="http://schemas.microsoft.com/office/drawing/2014/main" id="{9A428B1C-AF15-A821-1ACA-773D72CD7595}"/>
              </a:ext>
            </a:extLst>
          </p:cNvPr>
          <p:cNvSpPr txBox="1"/>
          <p:nvPr/>
        </p:nvSpPr>
        <p:spPr>
          <a:xfrm>
            <a:off x="300828" y="1659850"/>
            <a:ext cx="8534400" cy="2893100"/>
          </a:xfrm>
          <a:prstGeom prst="rect">
            <a:avLst/>
          </a:prstGeom>
          <a:noFill/>
        </p:spPr>
        <p:txBody>
          <a:bodyPr wrap="square" rtlCol="0">
            <a:spAutoFit/>
          </a:bodyPr>
          <a:lstStyle/>
          <a:p>
            <a:r>
              <a:rPr lang="en-US" sz="1400" b="1" dirty="0">
                <a:solidFill>
                  <a:srgbClr val="000000"/>
                </a:solidFill>
                <a:latin typeface="Arial" panose="020B0604020202020204" pitchFamily="34" charset="0"/>
                <a:ea typeface="Arial Bold"/>
                <a:cs typeface="Arial" panose="020B0604020202020204" pitchFamily="34" charset="0"/>
                <a:sym typeface="Arial Bold"/>
              </a:rPr>
              <a:t>Why SUDARSHAN?</a:t>
            </a:r>
          </a:p>
          <a:p>
            <a:endParaRPr lang="en-US" sz="1400" b="1" dirty="0">
              <a:solidFill>
                <a:srgbClr val="000000"/>
              </a:solidFill>
              <a:latin typeface="Arial" panose="020B0604020202020204" pitchFamily="34" charset="0"/>
              <a:cs typeface="Arial" panose="020B0604020202020204" pitchFamily="34" charset="0"/>
              <a:sym typeface="Arial Bold"/>
            </a:endParaRPr>
          </a:p>
          <a:p>
            <a:r>
              <a:rPr lang="en-US" sz="1400" dirty="0">
                <a:latin typeface="Arial" panose="020B0604020202020204" pitchFamily="34" charset="0"/>
                <a:cs typeface="Arial" panose="020B0604020202020204" pitchFamily="34" charset="0"/>
              </a:rPr>
              <a:t>With the rapid growth of web applications, security vulnerabilities have become one of the most critical challenges in software development. Many applications are deployed without proper security testing due to time constraints, lack of expertise, or dependence on costly commercial tools.</a:t>
            </a:r>
          </a:p>
          <a:p>
            <a:endParaRPr lang="en-US" sz="1400" dirty="0">
              <a:latin typeface="Arial" panose="020B0604020202020204" pitchFamily="34" charset="0"/>
              <a:cs typeface="Arial" panose="020B0604020202020204" pitchFamily="34" charset="0"/>
            </a:endParaRPr>
          </a:p>
          <a:p>
            <a:r>
              <a:rPr lang="en-US" sz="1400" b="1" dirty="0">
                <a:solidFill>
                  <a:srgbClr val="000000"/>
                </a:solidFill>
                <a:latin typeface="Arial" panose="020B0604020202020204" pitchFamily="34" charset="0"/>
                <a:ea typeface="Arial Bold"/>
                <a:cs typeface="Arial" panose="020B0604020202020204" pitchFamily="34" charset="0"/>
                <a:sym typeface="Arial Bold"/>
              </a:rPr>
              <a:t>Key Issues:</a:t>
            </a:r>
            <a:endParaRPr lang="en-US" sz="14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400" dirty="0">
                <a:latin typeface="Arial" panose="020B0604020202020204" pitchFamily="34" charset="0"/>
                <a:cs typeface="Arial" panose="020B0604020202020204" pitchFamily="34" charset="0"/>
              </a:rPr>
              <a:t>Manual vulnerability assessment is </a:t>
            </a:r>
            <a:r>
              <a:rPr lang="en-US" sz="1400" b="1" dirty="0">
                <a:latin typeface="Arial" panose="020B0604020202020204" pitchFamily="34" charset="0"/>
                <a:cs typeface="Arial" panose="020B0604020202020204" pitchFamily="34" charset="0"/>
              </a:rPr>
              <a:t>time-consuming</a:t>
            </a:r>
            <a:r>
              <a:rPr lang="en-US" sz="1400" dirty="0">
                <a:latin typeface="Arial" panose="020B0604020202020204" pitchFamily="34" charset="0"/>
                <a:cs typeface="Arial" panose="020B0604020202020204" pitchFamily="34" charset="0"/>
              </a:rPr>
              <a:t> and requires </a:t>
            </a:r>
            <a:r>
              <a:rPr lang="en-US" sz="1400" b="1" dirty="0">
                <a:latin typeface="Arial" panose="020B0604020202020204" pitchFamily="34" charset="0"/>
                <a:cs typeface="Arial" panose="020B0604020202020204" pitchFamily="34" charset="0"/>
              </a:rPr>
              <a:t>expert knowledge</a:t>
            </a:r>
            <a:r>
              <a:rPr lang="en-US" sz="1400" dirty="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US" sz="1400" dirty="0">
                <a:latin typeface="Arial" panose="020B0604020202020204" pitchFamily="34" charset="0"/>
                <a:cs typeface="Arial" panose="020B0604020202020204" pitchFamily="34" charset="0"/>
              </a:rPr>
              <a:t>Many applications are deployed without proper security testing.</a:t>
            </a:r>
          </a:p>
          <a:p>
            <a:pPr marL="171450" indent="-171450">
              <a:buFont typeface="Arial" panose="020B0604020202020204" pitchFamily="34" charset="0"/>
              <a:buChar char="•"/>
            </a:pPr>
            <a:r>
              <a:rPr lang="en-US" sz="1400" dirty="0">
                <a:latin typeface="Arial" panose="020B0604020202020204" pitchFamily="34" charset="0"/>
                <a:cs typeface="Arial" panose="020B0604020202020204" pitchFamily="34" charset="0"/>
              </a:rPr>
              <a:t>Existing commercial security tools are often </a:t>
            </a:r>
            <a:r>
              <a:rPr lang="en-US" sz="1400" b="1" dirty="0">
                <a:latin typeface="Arial" panose="020B0604020202020204" pitchFamily="34" charset="0"/>
                <a:cs typeface="Arial" panose="020B0604020202020204" pitchFamily="34" charset="0"/>
              </a:rPr>
              <a:t>expensive and complex</a:t>
            </a:r>
            <a:r>
              <a:rPr lang="en-US" sz="1400" dirty="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US" sz="1400" dirty="0">
                <a:latin typeface="Arial" panose="020B0604020202020204" pitchFamily="34" charset="0"/>
                <a:cs typeface="Arial" panose="020B0604020202020204" pitchFamily="34" charset="0"/>
              </a:rPr>
              <a:t>Students and small developers </a:t>
            </a:r>
            <a:r>
              <a:rPr lang="en-US" sz="1400" b="1" dirty="0">
                <a:latin typeface="Arial" panose="020B0604020202020204" pitchFamily="34" charset="0"/>
                <a:cs typeface="Arial" panose="020B0604020202020204" pitchFamily="34" charset="0"/>
              </a:rPr>
              <a:t>lack access</a:t>
            </a:r>
            <a:r>
              <a:rPr lang="en-US" sz="1400" dirty="0">
                <a:latin typeface="Arial" panose="020B0604020202020204" pitchFamily="34" charset="0"/>
                <a:cs typeface="Arial" panose="020B0604020202020204" pitchFamily="34" charset="0"/>
              </a:rPr>
              <a:t> to </a:t>
            </a:r>
            <a:r>
              <a:rPr lang="en-US" sz="1400" b="1" dirty="0">
                <a:latin typeface="Arial" panose="020B0604020202020204" pitchFamily="34" charset="0"/>
                <a:cs typeface="Arial" panose="020B0604020202020204" pitchFamily="34" charset="0"/>
              </a:rPr>
              <a:t>easy-to-use</a:t>
            </a:r>
            <a:r>
              <a:rPr lang="en-US" sz="1400" dirty="0">
                <a:latin typeface="Arial" panose="020B0604020202020204" pitchFamily="34" charset="0"/>
                <a:cs typeface="Arial" panose="020B0604020202020204" pitchFamily="34" charset="0"/>
              </a:rPr>
              <a:t> security tools.</a:t>
            </a:r>
          </a:p>
          <a:p>
            <a:pPr marL="171450" indent="-171450">
              <a:buFont typeface="Arial" panose="020B0604020202020204" pitchFamily="34" charset="0"/>
              <a:buChar char="•"/>
            </a:pPr>
            <a:r>
              <a:rPr lang="en-US" sz="1400" dirty="0">
                <a:latin typeface="Arial" panose="020B0604020202020204" pitchFamily="34" charset="0"/>
                <a:cs typeface="Arial" panose="020B0604020202020204" pitchFamily="34" charset="0"/>
              </a:rPr>
              <a:t>There is a need for an automated, user-friendly, and educational vulnerability scanning solution.</a:t>
            </a:r>
          </a:p>
          <a:p>
            <a:endParaRPr lang="en-IN" sz="1400" dirty="0">
              <a:latin typeface="Arial" panose="020B0604020202020204" pitchFamily="34" charset="0"/>
              <a:cs typeface="Arial" panose="020B0604020202020204" pitchFamily="34" charset="0"/>
            </a:endParaRPr>
          </a:p>
        </p:txBody>
      </p:sp>
      <p:pic>
        <p:nvPicPr>
          <p:cNvPr id="19" name="Picture 18">
            <a:extLst>
              <a:ext uri="{FF2B5EF4-FFF2-40B4-BE49-F238E27FC236}">
                <a16:creationId xmlns:a16="http://schemas.microsoft.com/office/drawing/2014/main" id="{0F4BE24B-6BF9-85FC-7F0F-0A766E0747FA}"/>
              </a:ext>
            </a:extLst>
          </p:cNvPr>
          <p:cNvPicPr>
            <a:picLocks noChangeAspect="1"/>
          </p:cNvPicPr>
          <p:nvPr/>
        </p:nvPicPr>
        <p:blipFill>
          <a:blip r:embed="rId3"/>
          <a:stretch>
            <a:fillRect/>
          </a:stretch>
        </p:blipFill>
        <p:spPr>
          <a:xfrm>
            <a:off x="7657946" y="514350"/>
            <a:ext cx="1105054" cy="838200"/>
          </a:xfrm>
          <a:prstGeom prst="rect">
            <a:avLst/>
          </a:prstGeom>
        </p:spPr>
      </p:pic>
    </p:spTree>
    <p:extLst>
      <p:ext uri="{BB962C8B-B14F-4D97-AF65-F5344CB8AC3E}">
        <p14:creationId xmlns:p14="http://schemas.microsoft.com/office/powerpoint/2010/main" val="3141682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829E78-AFA0-0AFA-8066-A3912088C6D5}"/>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E27CEAD6-7095-0842-A43E-8AB9F0C5C9EF}"/>
              </a:ext>
            </a:extLst>
          </p:cNvPr>
          <p:cNvSpPr>
            <a:spLocks noGrp="1"/>
          </p:cNvSpPr>
          <p:nvPr>
            <p:ph type="sldNum" sz="quarter" idx="12"/>
          </p:nvPr>
        </p:nvSpPr>
        <p:spPr/>
        <p:txBody>
          <a:bodyPr/>
          <a:lstStyle/>
          <a:p>
            <a:fld id="{D74C958B-560E-487B-A5FD-4D7E98A2579C}" type="slidenum">
              <a:rPr lang="en-US" smtClean="0"/>
              <a:t>5</a:t>
            </a:fld>
            <a:endParaRPr lang="en-US"/>
          </a:p>
        </p:txBody>
      </p:sp>
      <p:sp>
        <p:nvSpPr>
          <p:cNvPr id="4" name="Title 3">
            <a:extLst>
              <a:ext uri="{FF2B5EF4-FFF2-40B4-BE49-F238E27FC236}">
                <a16:creationId xmlns:a16="http://schemas.microsoft.com/office/drawing/2014/main" id="{3DEBFC05-26FC-3FCE-E550-E9DE25C9E162}"/>
              </a:ext>
            </a:extLst>
          </p:cNvPr>
          <p:cNvSpPr>
            <a:spLocks noGrp="1"/>
          </p:cNvSpPr>
          <p:nvPr>
            <p:ph type="title"/>
          </p:nvPr>
        </p:nvSpPr>
        <p:spPr>
          <a:xfrm>
            <a:off x="431922" y="547245"/>
            <a:ext cx="8272212" cy="624804"/>
          </a:xfrm>
        </p:spPr>
        <p:txBody>
          <a:bodyPr>
            <a:normAutofit/>
          </a:bodyPr>
          <a:lstStyle/>
          <a:p>
            <a:r>
              <a:rPr lang="en-IN" dirty="0"/>
              <a:t> </a:t>
            </a:r>
          </a:p>
        </p:txBody>
      </p:sp>
      <p:pic>
        <p:nvPicPr>
          <p:cNvPr id="15" name="Picture 14">
            <a:extLst>
              <a:ext uri="{FF2B5EF4-FFF2-40B4-BE49-F238E27FC236}">
                <a16:creationId xmlns:a16="http://schemas.microsoft.com/office/drawing/2014/main" id="{65A2B5F6-3459-52BB-2EAE-97337AE1A9F2}"/>
              </a:ext>
            </a:extLst>
          </p:cNvPr>
          <p:cNvPicPr>
            <a:picLocks noChangeAspect="1"/>
          </p:cNvPicPr>
          <p:nvPr/>
        </p:nvPicPr>
        <p:blipFill>
          <a:blip r:embed="rId2"/>
          <a:stretch>
            <a:fillRect/>
          </a:stretch>
        </p:blipFill>
        <p:spPr>
          <a:xfrm>
            <a:off x="7750034" y="514350"/>
            <a:ext cx="1012966" cy="838200"/>
          </a:xfrm>
          <a:prstGeom prst="rect">
            <a:avLst/>
          </a:prstGeom>
        </p:spPr>
      </p:pic>
      <p:sp>
        <p:nvSpPr>
          <p:cNvPr id="5" name="Title 3">
            <a:extLst>
              <a:ext uri="{FF2B5EF4-FFF2-40B4-BE49-F238E27FC236}">
                <a16:creationId xmlns:a16="http://schemas.microsoft.com/office/drawing/2014/main" id="{88C17130-2F40-3A73-9AE1-EE61245CB50A}"/>
              </a:ext>
            </a:extLst>
          </p:cNvPr>
          <p:cNvSpPr txBox="1">
            <a:spLocks/>
          </p:cNvSpPr>
          <p:nvPr/>
        </p:nvSpPr>
        <p:spPr>
          <a:xfrm>
            <a:off x="431922" y="547245"/>
            <a:ext cx="8272212" cy="576706"/>
          </a:xfrm>
          <a:prstGeom prst="rect">
            <a:avLst/>
          </a:prstGeom>
        </p:spPr>
        <p:txBody>
          <a:bodyPr vert="horz" lIns="91440" tIns="45720" rIns="91440" bIns="45720" rtlCol="0" anchor="b">
            <a:normAutofit/>
          </a:bodyPr>
          <a:lstStyle>
            <a:lvl1pPr algn="l" defTabSz="342910" rtl="0" eaLnBrk="1" latinLnBrk="0" hangingPunct="1">
              <a:spcBef>
                <a:spcPct val="0"/>
              </a:spcBef>
              <a:buNone/>
              <a:defRPr sz="21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dirty="0"/>
              <a:t>Importance</a:t>
            </a:r>
          </a:p>
        </p:txBody>
      </p:sp>
      <p:sp>
        <p:nvSpPr>
          <p:cNvPr id="7" name="TextBox 6">
            <a:extLst>
              <a:ext uri="{FF2B5EF4-FFF2-40B4-BE49-F238E27FC236}">
                <a16:creationId xmlns:a16="http://schemas.microsoft.com/office/drawing/2014/main" id="{CFB27851-96FC-730D-6A47-2DA8EC20C6A0}"/>
              </a:ext>
            </a:extLst>
          </p:cNvPr>
          <p:cNvSpPr txBox="1"/>
          <p:nvPr/>
        </p:nvSpPr>
        <p:spPr>
          <a:xfrm>
            <a:off x="304800" y="1581150"/>
            <a:ext cx="5399669" cy="3085460"/>
          </a:xfrm>
          <a:prstGeom prst="rect">
            <a:avLst/>
          </a:prstGeom>
          <a:noFill/>
        </p:spPr>
        <p:txBody>
          <a:bodyPr wrap="square" rtlCol="0">
            <a:spAutoFit/>
          </a:bodyPr>
          <a:lstStyle/>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Enhances awareness of common web application security vulnerabilities.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Helps identify security issues at an early stage of development.</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Reduces dependency on costly and complex commercial security tools.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Provides an educational platform for students to learn cybersecurity concepts.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Encourages secure coding and regular security testing practices.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Assists developers in improving the overall security posture of web applications.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Supports ethical and authorized security assessment.</a:t>
            </a:r>
          </a:p>
          <a:p>
            <a:endParaRPr lang="en-US" sz="1250" b="1"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78874EE5-1C1F-15B2-1044-90A46DCF6C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7542" y="1471292"/>
            <a:ext cx="3005458" cy="3005458"/>
          </a:xfrm>
          <a:prstGeom prst="rect">
            <a:avLst/>
          </a:prstGeom>
        </p:spPr>
      </p:pic>
    </p:spTree>
    <p:extLst>
      <p:ext uri="{BB962C8B-B14F-4D97-AF65-F5344CB8AC3E}">
        <p14:creationId xmlns:p14="http://schemas.microsoft.com/office/powerpoint/2010/main" val="233699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E5D702-8FA9-C8E5-E021-5BD3DEA8B7C9}"/>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4A8F2E0F-8B29-CD26-9381-307A4FA9BB60}"/>
              </a:ext>
            </a:extLst>
          </p:cNvPr>
          <p:cNvSpPr>
            <a:spLocks noGrp="1"/>
          </p:cNvSpPr>
          <p:nvPr>
            <p:ph type="sldNum" sz="quarter" idx="12"/>
          </p:nvPr>
        </p:nvSpPr>
        <p:spPr/>
        <p:txBody>
          <a:bodyPr/>
          <a:lstStyle/>
          <a:p>
            <a:fld id="{D74C958B-560E-487B-A5FD-4D7E98A2579C}" type="slidenum">
              <a:rPr lang="en-US" smtClean="0"/>
              <a:t>6</a:t>
            </a:fld>
            <a:endParaRPr lang="en-US"/>
          </a:p>
        </p:txBody>
      </p:sp>
      <p:sp>
        <p:nvSpPr>
          <p:cNvPr id="4" name="Title 3">
            <a:extLst>
              <a:ext uri="{FF2B5EF4-FFF2-40B4-BE49-F238E27FC236}">
                <a16:creationId xmlns:a16="http://schemas.microsoft.com/office/drawing/2014/main" id="{A285DD56-D1A7-420F-0161-39E2A0F9FD27}"/>
              </a:ext>
            </a:extLst>
          </p:cNvPr>
          <p:cNvSpPr>
            <a:spLocks noGrp="1"/>
          </p:cNvSpPr>
          <p:nvPr>
            <p:ph type="title"/>
          </p:nvPr>
        </p:nvSpPr>
        <p:spPr>
          <a:xfrm>
            <a:off x="431922" y="547245"/>
            <a:ext cx="8272212" cy="576706"/>
          </a:xfrm>
        </p:spPr>
        <p:txBody>
          <a:bodyPr/>
          <a:lstStyle/>
          <a:p>
            <a:r>
              <a:rPr lang="en-IN" dirty="0"/>
              <a:t>Objectives</a:t>
            </a:r>
          </a:p>
        </p:txBody>
      </p:sp>
      <p:sp>
        <p:nvSpPr>
          <p:cNvPr id="8" name="TextBox 7">
            <a:extLst>
              <a:ext uri="{FF2B5EF4-FFF2-40B4-BE49-F238E27FC236}">
                <a16:creationId xmlns:a16="http://schemas.microsoft.com/office/drawing/2014/main" id="{3BDFFD1C-B8BA-2B95-B87B-B3F6FD617EE2}"/>
              </a:ext>
            </a:extLst>
          </p:cNvPr>
          <p:cNvSpPr txBox="1"/>
          <p:nvPr/>
        </p:nvSpPr>
        <p:spPr>
          <a:xfrm>
            <a:off x="431921" y="2038350"/>
            <a:ext cx="8272212"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 design and develop an automated web vulnerability scanning platform.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 detect common web application vulnerabilities such as SQL Injection, XSS and         security misconfigurations.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 analyze web application responses for potential security weaknesses and threats.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 provide real-time scan progress and vulnerability insights with </a:t>
            </a:r>
            <a:r>
              <a:rPr kumimoji="0" lang="en-IN" altLang="en-US" sz="1600" b="0" i="0" u="none" strike="noStrike" cap="none" normalizeH="0" baseline="0" dirty="0">
                <a:ln>
                  <a:noFill/>
                </a:ln>
                <a:solidFill>
                  <a:schemeClr val="tx1"/>
                </a:solidFill>
                <a:effectLst/>
                <a:latin typeface="Arial" panose="020B0604020202020204" pitchFamily="34" charset="0"/>
              </a:rPr>
              <a:t>visualization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 generate detailed security reports with remediation suggestions.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 promote secure coding practices and cybersecurity awareness in students and developers.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To support ethical and authorized security testing.</a:t>
            </a:r>
          </a:p>
        </p:txBody>
      </p:sp>
      <p:pic>
        <p:nvPicPr>
          <p:cNvPr id="9" name="Picture 8">
            <a:extLst>
              <a:ext uri="{FF2B5EF4-FFF2-40B4-BE49-F238E27FC236}">
                <a16:creationId xmlns:a16="http://schemas.microsoft.com/office/drawing/2014/main" id="{309967E1-6C94-E143-9AD1-FE0C7EFDCC03}"/>
              </a:ext>
            </a:extLst>
          </p:cNvPr>
          <p:cNvPicPr>
            <a:picLocks noChangeAspect="1"/>
          </p:cNvPicPr>
          <p:nvPr/>
        </p:nvPicPr>
        <p:blipFill>
          <a:blip r:embed="rId2"/>
          <a:stretch>
            <a:fillRect/>
          </a:stretch>
        </p:blipFill>
        <p:spPr>
          <a:xfrm>
            <a:off x="7750034" y="514350"/>
            <a:ext cx="1012966" cy="838200"/>
          </a:xfrm>
          <a:prstGeom prst="rect">
            <a:avLst/>
          </a:prstGeom>
        </p:spPr>
      </p:pic>
    </p:spTree>
    <p:extLst>
      <p:ext uri="{BB962C8B-B14F-4D97-AF65-F5344CB8AC3E}">
        <p14:creationId xmlns:p14="http://schemas.microsoft.com/office/powerpoint/2010/main" val="1252650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023D92-0C2B-60BF-DB12-0DCCDED52F22}"/>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9D20DA62-A20F-1121-8A6E-0ED5D515157F}"/>
              </a:ext>
            </a:extLst>
          </p:cNvPr>
          <p:cNvSpPr>
            <a:spLocks noGrp="1"/>
          </p:cNvSpPr>
          <p:nvPr>
            <p:ph type="sldNum" sz="quarter" idx="12"/>
          </p:nvPr>
        </p:nvSpPr>
        <p:spPr/>
        <p:txBody>
          <a:bodyPr/>
          <a:lstStyle/>
          <a:p>
            <a:fld id="{D74C958B-560E-487B-A5FD-4D7E98A2579C}" type="slidenum">
              <a:rPr lang="en-US" smtClean="0"/>
              <a:t>7</a:t>
            </a:fld>
            <a:endParaRPr lang="en-US"/>
          </a:p>
        </p:txBody>
      </p:sp>
      <p:sp>
        <p:nvSpPr>
          <p:cNvPr id="4" name="Title 3">
            <a:extLst>
              <a:ext uri="{FF2B5EF4-FFF2-40B4-BE49-F238E27FC236}">
                <a16:creationId xmlns:a16="http://schemas.microsoft.com/office/drawing/2014/main" id="{0F4C813F-B47D-0259-D7A4-F1AD21BA31EB}"/>
              </a:ext>
            </a:extLst>
          </p:cNvPr>
          <p:cNvSpPr>
            <a:spLocks noGrp="1"/>
          </p:cNvSpPr>
          <p:nvPr>
            <p:ph type="title"/>
          </p:nvPr>
        </p:nvSpPr>
        <p:spPr/>
        <p:txBody>
          <a:bodyPr/>
          <a:lstStyle/>
          <a:p>
            <a:pPr>
              <a:lnSpc>
                <a:spcPts val="5040"/>
              </a:lnSpc>
            </a:pPr>
            <a:r>
              <a:rPr lang="en-US" sz="2400" dirty="0">
                <a:solidFill>
                  <a:srgbClr val="FFFFFF"/>
                </a:solidFill>
                <a:latin typeface="Gill Sans Light"/>
                <a:ea typeface="Gill Sans Light"/>
                <a:cs typeface="Gill Sans Light"/>
                <a:sym typeface="Gill Sans Light"/>
              </a:rPr>
              <a:t>Literature Review</a:t>
            </a:r>
          </a:p>
        </p:txBody>
      </p:sp>
      <p:pic>
        <p:nvPicPr>
          <p:cNvPr id="5" name="Picture 4">
            <a:extLst>
              <a:ext uri="{FF2B5EF4-FFF2-40B4-BE49-F238E27FC236}">
                <a16:creationId xmlns:a16="http://schemas.microsoft.com/office/drawing/2014/main" id="{43B6A81F-13C5-69BE-FE86-4C450FA6FD07}"/>
              </a:ext>
            </a:extLst>
          </p:cNvPr>
          <p:cNvPicPr>
            <a:picLocks noChangeAspect="1"/>
          </p:cNvPicPr>
          <p:nvPr/>
        </p:nvPicPr>
        <p:blipFill>
          <a:blip r:embed="rId2"/>
          <a:stretch>
            <a:fillRect/>
          </a:stretch>
        </p:blipFill>
        <p:spPr>
          <a:xfrm>
            <a:off x="7721478" y="518669"/>
            <a:ext cx="990600" cy="819693"/>
          </a:xfrm>
          <a:prstGeom prst="rect">
            <a:avLst/>
          </a:prstGeom>
        </p:spPr>
      </p:pic>
      <p:sp>
        <p:nvSpPr>
          <p:cNvPr id="6" name="TextBox 5">
            <a:extLst>
              <a:ext uri="{FF2B5EF4-FFF2-40B4-BE49-F238E27FC236}">
                <a16:creationId xmlns:a16="http://schemas.microsoft.com/office/drawing/2014/main" id="{8B269597-70F7-C972-847C-36E64B4045E5}"/>
              </a:ext>
            </a:extLst>
          </p:cNvPr>
          <p:cNvSpPr txBox="1"/>
          <p:nvPr/>
        </p:nvSpPr>
        <p:spPr>
          <a:xfrm>
            <a:off x="431922" y="1581150"/>
            <a:ext cx="8272212" cy="3362459"/>
          </a:xfrm>
          <a:prstGeom prst="rect">
            <a:avLst/>
          </a:prstGeom>
          <a:noFill/>
        </p:spPr>
        <p:txBody>
          <a:bodyPr wrap="square">
            <a:spAutoFit/>
          </a:bodyPr>
          <a:lstStyle/>
          <a:p>
            <a:r>
              <a:rPr lang="en-US" sz="1250" b="1" dirty="0">
                <a:latin typeface="Arial" panose="020B0604020202020204" pitchFamily="34" charset="0"/>
                <a:cs typeface="Arial" panose="020B0604020202020204" pitchFamily="34" charset="0"/>
              </a:rPr>
              <a:t>Background Research &amp; Related Works</a:t>
            </a:r>
          </a:p>
          <a:p>
            <a:endParaRPr lang="en-US" sz="125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Increasing Web Application Vulnerabilities:</a:t>
            </a:r>
            <a:br>
              <a:rPr lang="en-US" sz="1250" dirty="0">
                <a:latin typeface="Arial" panose="020B0604020202020204" pitchFamily="34" charset="0"/>
                <a:cs typeface="Arial" panose="020B0604020202020204" pitchFamily="34" charset="0"/>
              </a:rPr>
            </a:br>
            <a:r>
              <a:rPr lang="en-US" sz="1250" dirty="0">
                <a:latin typeface="Arial" panose="020B0604020202020204" pitchFamily="34" charset="0"/>
                <a:cs typeface="Arial" panose="020B0604020202020204" pitchFamily="34" charset="0"/>
              </a:rPr>
              <a:t>Reports from organizations such as </a:t>
            </a:r>
            <a:r>
              <a:rPr lang="en-US" sz="1250" b="1" dirty="0">
                <a:latin typeface="Arial" panose="020B0604020202020204" pitchFamily="34" charset="0"/>
                <a:cs typeface="Arial" panose="020B0604020202020204" pitchFamily="34" charset="0"/>
              </a:rPr>
              <a:t>OWASP</a:t>
            </a:r>
            <a:r>
              <a:rPr lang="en-US" sz="1250" dirty="0">
                <a:latin typeface="Arial" panose="020B0604020202020204" pitchFamily="34" charset="0"/>
                <a:cs typeface="Arial" panose="020B0604020202020204" pitchFamily="34" charset="0"/>
              </a:rPr>
              <a:t> and </a:t>
            </a:r>
            <a:r>
              <a:rPr lang="en-US" sz="1250" b="1" dirty="0">
                <a:latin typeface="Arial" panose="020B0604020202020204" pitchFamily="34" charset="0"/>
                <a:cs typeface="Arial" panose="020B0604020202020204" pitchFamily="34" charset="0"/>
              </a:rPr>
              <a:t>CERT-In</a:t>
            </a:r>
            <a:r>
              <a:rPr lang="en-US" sz="1250" dirty="0">
                <a:latin typeface="Arial" panose="020B0604020202020204" pitchFamily="34" charset="0"/>
                <a:cs typeface="Arial" panose="020B0604020202020204" pitchFamily="34" charset="0"/>
              </a:rPr>
              <a:t> indicate a continuous rise in web-based attacks, including SQL Injection, Cross-Site Scripting (XSS), and insecure authentication mechanisms affecting public and private web applications.</a:t>
            </a: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Existing Security Testing Tools:</a:t>
            </a:r>
            <a:br>
              <a:rPr lang="en-US" sz="1250" dirty="0">
                <a:latin typeface="Arial" panose="020B0604020202020204" pitchFamily="34" charset="0"/>
                <a:cs typeface="Arial" panose="020B0604020202020204" pitchFamily="34" charset="0"/>
              </a:rPr>
            </a:br>
            <a:r>
              <a:rPr lang="en-US" sz="1250" dirty="0">
                <a:latin typeface="Arial" panose="020B0604020202020204" pitchFamily="34" charset="0"/>
                <a:cs typeface="Arial" panose="020B0604020202020204" pitchFamily="34" charset="0"/>
              </a:rPr>
              <a:t>Tools such as </a:t>
            </a:r>
            <a:r>
              <a:rPr lang="en-US" sz="1250" b="1" dirty="0">
                <a:latin typeface="Arial" panose="020B0604020202020204" pitchFamily="34" charset="0"/>
                <a:cs typeface="Arial" panose="020B0604020202020204" pitchFamily="34" charset="0"/>
              </a:rPr>
              <a:t>OWASP ZAP</a:t>
            </a:r>
            <a:r>
              <a:rPr lang="en-US" sz="1250" dirty="0">
                <a:latin typeface="Arial" panose="020B0604020202020204" pitchFamily="34" charset="0"/>
                <a:cs typeface="Arial" panose="020B0604020202020204" pitchFamily="34" charset="0"/>
              </a:rPr>
              <a:t>, </a:t>
            </a:r>
            <a:r>
              <a:rPr lang="en-US" sz="1250" b="1" dirty="0" err="1">
                <a:latin typeface="Arial" panose="020B0604020202020204" pitchFamily="34" charset="0"/>
                <a:cs typeface="Arial" panose="020B0604020202020204" pitchFamily="34" charset="0"/>
              </a:rPr>
              <a:t>Nikto</a:t>
            </a:r>
            <a:r>
              <a:rPr lang="en-US" sz="1250" dirty="0">
                <a:latin typeface="Arial" panose="020B0604020202020204" pitchFamily="34" charset="0"/>
                <a:cs typeface="Arial" panose="020B0604020202020204" pitchFamily="34" charset="0"/>
              </a:rPr>
              <a:t>, and </a:t>
            </a:r>
            <a:r>
              <a:rPr lang="en-US" sz="1250" b="1" dirty="0">
                <a:latin typeface="Arial" panose="020B0604020202020204" pitchFamily="34" charset="0"/>
                <a:cs typeface="Arial" panose="020B0604020202020204" pitchFamily="34" charset="0"/>
              </a:rPr>
              <a:t>Burp Suite</a:t>
            </a:r>
            <a:r>
              <a:rPr lang="en-US" sz="1250" dirty="0">
                <a:latin typeface="Arial" panose="020B0604020202020204" pitchFamily="34" charset="0"/>
                <a:cs typeface="Arial" panose="020B0604020202020204" pitchFamily="34" charset="0"/>
              </a:rPr>
              <a:t> are widely used for vulnerability assessment. However, these tools often require advanced technical knowledge and are complex for beginners and academic users.</a:t>
            </a: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Limitations of Manual Testing:</a:t>
            </a:r>
            <a:br>
              <a:rPr lang="en-US" sz="1250" dirty="0">
                <a:latin typeface="Arial" panose="020B0604020202020204" pitchFamily="34" charset="0"/>
                <a:cs typeface="Arial" panose="020B0604020202020204" pitchFamily="34" charset="0"/>
              </a:rPr>
            </a:br>
            <a:r>
              <a:rPr lang="en-US" sz="1250" dirty="0">
                <a:latin typeface="Arial" panose="020B0604020202020204" pitchFamily="34" charset="0"/>
                <a:cs typeface="Arial" panose="020B0604020202020204" pitchFamily="34" charset="0"/>
              </a:rPr>
              <a:t>Manual penetration testing is time-consuming, resource-intensive, and prone to human error, making it unsuitable for frequent or large-scale security assessments.</a:t>
            </a: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Need for Automated and Educational Tools:</a:t>
            </a:r>
            <a:br>
              <a:rPr lang="en-US" sz="1250" dirty="0">
                <a:latin typeface="Arial" panose="020B0604020202020204" pitchFamily="34" charset="0"/>
                <a:cs typeface="Arial" panose="020B0604020202020204" pitchFamily="34" charset="0"/>
              </a:rPr>
            </a:br>
            <a:r>
              <a:rPr lang="en-US" sz="1250" dirty="0">
                <a:latin typeface="Arial" panose="020B0604020202020204" pitchFamily="34" charset="0"/>
                <a:cs typeface="Arial" panose="020B0604020202020204" pitchFamily="34" charset="0"/>
              </a:rPr>
              <a:t>Existing tools primarily focus on professional usage and lack simplicity and educational clarity. There is a need for an automated, beginner-friendly platform that integrates vulnerability detection and reporting in a unified system.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5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76990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B662D1-898A-B6BF-C416-3BC7289026B7}"/>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7776EE21-3F17-C02A-C642-E3F6E7759AC6}"/>
              </a:ext>
            </a:extLst>
          </p:cNvPr>
          <p:cNvSpPr>
            <a:spLocks noGrp="1"/>
          </p:cNvSpPr>
          <p:nvPr>
            <p:ph type="sldNum" sz="quarter" idx="12"/>
          </p:nvPr>
        </p:nvSpPr>
        <p:spPr/>
        <p:txBody>
          <a:bodyPr/>
          <a:lstStyle/>
          <a:p>
            <a:fld id="{D74C958B-560E-487B-A5FD-4D7E98A2579C}" type="slidenum">
              <a:rPr lang="en-US" smtClean="0"/>
              <a:t>8</a:t>
            </a:fld>
            <a:endParaRPr lang="en-US"/>
          </a:p>
        </p:txBody>
      </p:sp>
      <p:sp>
        <p:nvSpPr>
          <p:cNvPr id="4" name="Title 3">
            <a:extLst>
              <a:ext uri="{FF2B5EF4-FFF2-40B4-BE49-F238E27FC236}">
                <a16:creationId xmlns:a16="http://schemas.microsoft.com/office/drawing/2014/main" id="{7A67A76A-A7E3-3703-D636-4BEEC06232AB}"/>
              </a:ext>
            </a:extLst>
          </p:cNvPr>
          <p:cNvSpPr>
            <a:spLocks noGrp="1"/>
          </p:cNvSpPr>
          <p:nvPr>
            <p:ph type="title"/>
          </p:nvPr>
        </p:nvSpPr>
        <p:spPr>
          <a:xfrm>
            <a:off x="431922" y="547245"/>
            <a:ext cx="8272212" cy="576706"/>
          </a:xfrm>
        </p:spPr>
        <p:txBody>
          <a:bodyPr>
            <a:normAutofit/>
          </a:bodyPr>
          <a:lstStyle/>
          <a:p>
            <a:r>
              <a:rPr lang="en-US" dirty="0"/>
              <a:t>Methodology </a:t>
            </a:r>
            <a:endParaRPr lang="en-IN" dirty="0"/>
          </a:p>
        </p:txBody>
      </p:sp>
      <p:pic>
        <p:nvPicPr>
          <p:cNvPr id="6" name="Picture 5">
            <a:extLst>
              <a:ext uri="{FF2B5EF4-FFF2-40B4-BE49-F238E27FC236}">
                <a16:creationId xmlns:a16="http://schemas.microsoft.com/office/drawing/2014/main" id="{54C435AC-B77C-4AF8-5541-6A87CE590257}"/>
              </a:ext>
            </a:extLst>
          </p:cNvPr>
          <p:cNvPicPr>
            <a:picLocks noChangeAspect="1"/>
          </p:cNvPicPr>
          <p:nvPr/>
        </p:nvPicPr>
        <p:blipFill>
          <a:blip r:embed="rId2"/>
          <a:stretch>
            <a:fillRect/>
          </a:stretch>
        </p:blipFill>
        <p:spPr>
          <a:xfrm>
            <a:off x="7724646" y="514350"/>
            <a:ext cx="1012825" cy="838200"/>
          </a:xfrm>
          <a:prstGeom prst="rect">
            <a:avLst/>
          </a:prstGeom>
        </p:spPr>
      </p:pic>
      <p:sp>
        <p:nvSpPr>
          <p:cNvPr id="7" name="TextBox 6">
            <a:extLst>
              <a:ext uri="{FF2B5EF4-FFF2-40B4-BE49-F238E27FC236}">
                <a16:creationId xmlns:a16="http://schemas.microsoft.com/office/drawing/2014/main" id="{88614B01-754F-5EF4-5AFF-C59F7C28A840}"/>
              </a:ext>
            </a:extLst>
          </p:cNvPr>
          <p:cNvSpPr txBox="1"/>
          <p:nvPr/>
        </p:nvSpPr>
        <p:spPr>
          <a:xfrm>
            <a:off x="431922" y="1504950"/>
            <a:ext cx="8272212" cy="3554819"/>
          </a:xfrm>
          <a:prstGeom prst="rect">
            <a:avLst/>
          </a:prstGeom>
          <a:noFill/>
        </p:spPr>
        <p:txBody>
          <a:bodyPr wrap="square">
            <a:spAutoFit/>
          </a:bodyPr>
          <a:lstStyle/>
          <a:p>
            <a:r>
              <a:rPr lang="en-US" sz="1250" b="1" dirty="0">
                <a:latin typeface="Arial" panose="020B0604020202020204" pitchFamily="34" charset="0"/>
                <a:cs typeface="Arial" panose="020B0604020202020204" pitchFamily="34" charset="0"/>
              </a:rPr>
              <a:t>Tools, Techniques, and Framework Used</a:t>
            </a:r>
          </a:p>
          <a:p>
            <a:endParaRPr lang="en-US" sz="125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Development Framework: </a:t>
            </a:r>
            <a:r>
              <a:rPr lang="en-US" sz="1250" dirty="0">
                <a:latin typeface="Arial" panose="020B0604020202020204" pitchFamily="34" charset="0"/>
                <a:cs typeface="Arial" panose="020B0604020202020204" pitchFamily="34" charset="0"/>
              </a:rPr>
              <a:t>The system is developed using </a:t>
            </a:r>
            <a:r>
              <a:rPr lang="en-US" sz="1250" b="1" dirty="0">
                <a:latin typeface="Arial" panose="020B0604020202020204" pitchFamily="34" charset="0"/>
                <a:cs typeface="Arial" panose="020B0604020202020204" pitchFamily="34" charset="0"/>
              </a:rPr>
              <a:t>Python Flask</a:t>
            </a:r>
            <a:r>
              <a:rPr lang="en-US" sz="1250" dirty="0">
                <a:latin typeface="Arial" panose="020B0604020202020204" pitchFamily="34" charset="0"/>
                <a:cs typeface="Arial" panose="020B0604020202020204" pitchFamily="34" charset="0"/>
              </a:rPr>
              <a:t>, which provides a lightweight and flexible backend framework for handling scan requests, processing results, and managing reports.</a:t>
            </a:r>
          </a:p>
          <a:p>
            <a:endParaRPr lang="en-US" sz="125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Scanning Techniques: </a:t>
            </a:r>
            <a:r>
              <a:rPr lang="en-US" sz="1250" dirty="0">
                <a:latin typeface="Arial" panose="020B0604020202020204" pitchFamily="34" charset="0"/>
                <a:cs typeface="Arial" panose="020B0604020202020204" pitchFamily="34" charset="0"/>
              </a:rPr>
              <a:t>Automated vulnerability scanning is performed using </a:t>
            </a:r>
            <a:r>
              <a:rPr lang="en-US" sz="1250" b="1" dirty="0">
                <a:latin typeface="Arial" panose="020B0604020202020204" pitchFamily="34" charset="0"/>
                <a:cs typeface="Arial" panose="020B0604020202020204" pitchFamily="34" charset="0"/>
              </a:rPr>
              <a:t>web crawling</a:t>
            </a:r>
            <a:r>
              <a:rPr lang="en-US" sz="1250" dirty="0">
                <a:latin typeface="Arial" panose="020B0604020202020204" pitchFamily="34" charset="0"/>
                <a:cs typeface="Arial" panose="020B0604020202020204" pitchFamily="34" charset="0"/>
              </a:rPr>
              <a:t>, </a:t>
            </a:r>
            <a:r>
              <a:rPr lang="en-US" sz="1250" b="1" dirty="0">
                <a:latin typeface="Arial" panose="020B0604020202020204" pitchFamily="34" charset="0"/>
                <a:cs typeface="Arial" panose="020B0604020202020204" pitchFamily="34" charset="0"/>
              </a:rPr>
              <a:t>payload injection</a:t>
            </a:r>
            <a:r>
              <a:rPr lang="en-US" sz="1250" dirty="0">
                <a:latin typeface="Arial" panose="020B0604020202020204" pitchFamily="34" charset="0"/>
                <a:cs typeface="Arial" panose="020B0604020202020204" pitchFamily="34" charset="0"/>
              </a:rPr>
              <a:t>, and </a:t>
            </a:r>
            <a:r>
              <a:rPr lang="en-US" sz="1250" b="1" dirty="0">
                <a:latin typeface="Arial" panose="020B0604020202020204" pitchFamily="34" charset="0"/>
                <a:cs typeface="Arial" panose="020B0604020202020204" pitchFamily="34" charset="0"/>
              </a:rPr>
              <a:t>HTTP response analysis</a:t>
            </a:r>
            <a:r>
              <a:rPr lang="en-US" sz="1250" dirty="0">
                <a:latin typeface="Arial" panose="020B0604020202020204" pitchFamily="34" charset="0"/>
                <a:cs typeface="Arial" panose="020B0604020202020204" pitchFamily="34" charset="0"/>
              </a:rPr>
              <a:t> techniques to identify security weaknesses such as SQL Injection and XSS.</a:t>
            </a:r>
          </a:p>
          <a:p>
            <a:endParaRPr lang="en-US" sz="125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Frontend Technologies: </a:t>
            </a:r>
            <a:r>
              <a:rPr lang="en-US" sz="1250" dirty="0">
                <a:latin typeface="Arial" panose="020B0604020202020204" pitchFamily="34" charset="0"/>
                <a:cs typeface="Arial" panose="020B0604020202020204" pitchFamily="34" charset="0"/>
              </a:rPr>
              <a:t>The user interface is designed using </a:t>
            </a:r>
            <a:r>
              <a:rPr lang="en-US" sz="1250" b="1" dirty="0">
                <a:latin typeface="Arial" panose="020B0604020202020204" pitchFamily="34" charset="0"/>
                <a:cs typeface="Arial" panose="020B0604020202020204" pitchFamily="34" charset="0"/>
              </a:rPr>
              <a:t>HTML, CSS, Bootstrap, and JavaScript</a:t>
            </a:r>
            <a:r>
              <a:rPr lang="en-US" sz="1250" dirty="0">
                <a:latin typeface="Arial" panose="020B0604020202020204" pitchFamily="34" charset="0"/>
                <a:cs typeface="Arial" panose="020B0604020202020204" pitchFamily="34" charset="0"/>
              </a:rPr>
              <a:t> to ensure a responsive, user-friendly, and interactive web experience.</a:t>
            </a:r>
          </a:p>
          <a:p>
            <a:endParaRPr lang="en-US" sz="125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Database and Storage: SQLite</a:t>
            </a:r>
            <a:r>
              <a:rPr lang="en-US" sz="1250" dirty="0">
                <a:latin typeface="Arial" panose="020B0604020202020204" pitchFamily="34" charset="0"/>
                <a:cs typeface="Arial" panose="020B0604020202020204" pitchFamily="34" charset="0"/>
              </a:rPr>
              <a:t> is used for storing scan details, detected vulnerabilities, logs, and report metadata in a structured manner.</a:t>
            </a:r>
          </a:p>
          <a:p>
            <a:endParaRPr lang="en-US" sz="125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250" b="1" dirty="0">
                <a:latin typeface="Arial" panose="020B0604020202020204" pitchFamily="34" charset="0"/>
                <a:cs typeface="Arial" panose="020B0604020202020204" pitchFamily="34" charset="0"/>
              </a:rPr>
              <a:t>Reporting Mechanism: </a:t>
            </a:r>
            <a:r>
              <a:rPr lang="en-US" sz="1250" dirty="0">
                <a:latin typeface="Arial" panose="020B0604020202020204" pitchFamily="34" charset="0"/>
                <a:cs typeface="Arial" panose="020B0604020202020204" pitchFamily="34" charset="0"/>
              </a:rPr>
              <a:t>The system generates detailed vulnerability reports in </a:t>
            </a:r>
            <a:r>
              <a:rPr lang="en-US" sz="1250" b="1" dirty="0">
                <a:latin typeface="Arial" panose="020B0604020202020204" pitchFamily="34" charset="0"/>
                <a:cs typeface="Arial" panose="020B0604020202020204" pitchFamily="34" charset="0"/>
              </a:rPr>
              <a:t>PDF format</a:t>
            </a:r>
            <a:r>
              <a:rPr lang="en-US" sz="1250" dirty="0">
                <a:latin typeface="Arial" panose="020B0604020202020204" pitchFamily="34" charset="0"/>
                <a:cs typeface="Arial" panose="020B0604020202020204" pitchFamily="34" charset="0"/>
              </a:rPr>
              <a:t> using automated report generation libraries, providing severity levels and remediation guidelines.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5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1030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4A1F4E-54C3-2F12-4D50-CECF9F0923BA}"/>
              </a:ext>
            </a:extLst>
          </p:cNvPr>
          <p:cNvSpPr>
            <a:spLocks noGrp="1"/>
          </p:cNvSpPr>
          <p:nvPr>
            <p:ph type="dt" sz="half" idx="10"/>
          </p:nvPr>
        </p:nvSpPr>
        <p:spPr>
          <a:xfrm>
            <a:off x="5785127" y="4740947"/>
            <a:ext cx="2133598" cy="273844"/>
          </a:xfrm>
        </p:spPr>
        <p:txBody>
          <a:bodyPr/>
          <a:lstStyle/>
          <a:p>
            <a:fld id="{8E4E0582-5787-4C7E-9A38-64712BA2C227}" type="datetime1">
              <a:rPr lang="en-US" smtClean="0"/>
              <a:t>1/28/2026</a:t>
            </a:fld>
            <a:endParaRPr lang="en-US" dirty="0"/>
          </a:p>
        </p:txBody>
      </p:sp>
      <p:sp>
        <p:nvSpPr>
          <p:cNvPr id="3" name="Slide Number Placeholder 2">
            <a:extLst>
              <a:ext uri="{FF2B5EF4-FFF2-40B4-BE49-F238E27FC236}">
                <a16:creationId xmlns:a16="http://schemas.microsoft.com/office/drawing/2014/main" id="{591CCE64-B631-3F67-120D-7CDC0521FCF4}"/>
              </a:ext>
            </a:extLst>
          </p:cNvPr>
          <p:cNvSpPr>
            <a:spLocks noGrp="1"/>
          </p:cNvSpPr>
          <p:nvPr>
            <p:ph type="sldNum" sz="quarter" idx="12"/>
          </p:nvPr>
        </p:nvSpPr>
        <p:spPr>
          <a:xfrm>
            <a:off x="7914751" y="4740947"/>
            <a:ext cx="789383" cy="273844"/>
          </a:xfrm>
        </p:spPr>
        <p:txBody>
          <a:bodyPr/>
          <a:lstStyle/>
          <a:p>
            <a:fld id="{D74C958B-560E-487B-A5FD-4D7E98A2579C}" type="slidenum">
              <a:rPr lang="en-US" smtClean="0"/>
              <a:t>9</a:t>
            </a:fld>
            <a:endParaRPr lang="en-US"/>
          </a:p>
        </p:txBody>
      </p:sp>
      <p:sp>
        <p:nvSpPr>
          <p:cNvPr id="4" name="Title 3">
            <a:extLst>
              <a:ext uri="{FF2B5EF4-FFF2-40B4-BE49-F238E27FC236}">
                <a16:creationId xmlns:a16="http://schemas.microsoft.com/office/drawing/2014/main" id="{B55440EA-87D9-3DDD-31D7-BC7A3F281742}"/>
              </a:ext>
            </a:extLst>
          </p:cNvPr>
          <p:cNvSpPr>
            <a:spLocks noGrp="1"/>
          </p:cNvSpPr>
          <p:nvPr>
            <p:ph type="title"/>
          </p:nvPr>
        </p:nvSpPr>
        <p:spPr/>
        <p:txBody>
          <a:bodyPr/>
          <a:lstStyle/>
          <a:p>
            <a:r>
              <a:rPr lang="en-IN" dirty="0"/>
              <a:t>Workflow</a:t>
            </a:r>
          </a:p>
        </p:txBody>
      </p:sp>
      <p:pic>
        <p:nvPicPr>
          <p:cNvPr id="9" name="Picture 8">
            <a:extLst>
              <a:ext uri="{FF2B5EF4-FFF2-40B4-BE49-F238E27FC236}">
                <a16:creationId xmlns:a16="http://schemas.microsoft.com/office/drawing/2014/main" id="{4FAA7970-CF5F-52A5-FAEF-C3A3184B298D}"/>
              </a:ext>
            </a:extLst>
          </p:cNvPr>
          <p:cNvPicPr>
            <a:picLocks noChangeAspect="1"/>
          </p:cNvPicPr>
          <p:nvPr/>
        </p:nvPicPr>
        <p:blipFill>
          <a:blip r:embed="rId2"/>
          <a:stretch>
            <a:fillRect/>
          </a:stretch>
        </p:blipFill>
        <p:spPr>
          <a:xfrm>
            <a:off x="7724646" y="514350"/>
            <a:ext cx="1012825" cy="838200"/>
          </a:xfrm>
          <a:prstGeom prst="rect">
            <a:avLst/>
          </a:prstGeom>
        </p:spPr>
      </p:pic>
      <p:sp>
        <p:nvSpPr>
          <p:cNvPr id="10" name="TextBox 9">
            <a:extLst>
              <a:ext uri="{FF2B5EF4-FFF2-40B4-BE49-F238E27FC236}">
                <a16:creationId xmlns:a16="http://schemas.microsoft.com/office/drawing/2014/main" id="{4662CB1E-D1A8-696A-AE54-0BE278FB5F13}"/>
              </a:ext>
            </a:extLst>
          </p:cNvPr>
          <p:cNvSpPr txBox="1"/>
          <p:nvPr/>
        </p:nvSpPr>
        <p:spPr>
          <a:xfrm>
            <a:off x="431922" y="1504950"/>
            <a:ext cx="8272212" cy="3416320"/>
          </a:xfrm>
          <a:prstGeom prst="rect">
            <a:avLst/>
          </a:prstGeom>
          <a:noFill/>
        </p:spPr>
        <p:txBody>
          <a:bodyPr wrap="square">
            <a:spAutoFit/>
          </a:bodyPr>
          <a:lstStyle/>
          <a:p>
            <a:r>
              <a:rPr lang="en-US" sz="1200" b="1" dirty="0">
                <a:latin typeface="Arial" panose="020B0604020202020204" pitchFamily="34" charset="0"/>
                <a:cs typeface="Arial" panose="020B0604020202020204" pitchFamily="34" charset="0"/>
              </a:rPr>
              <a:t>Architecture, Flowcharts, and Block Diagrams</a:t>
            </a:r>
          </a:p>
          <a:p>
            <a:endParaRPr lang="en-US" sz="1200" b="1"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System Architecture:</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The system follows a </a:t>
            </a:r>
            <a:r>
              <a:rPr lang="en-US" sz="1200" b="1" dirty="0">
                <a:latin typeface="Arial" panose="020B0604020202020204" pitchFamily="34" charset="0"/>
                <a:cs typeface="Arial" panose="020B0604020202020204" pitchFamily="34" charset="0"/>
              </a:rPr>
              <a:t>web-based client–server architecture</a:t>
            </a:r>
            <a:r>
              <a:rPr lang="en-US" sz="1200" dirty="0">
                <a:latin typeface="Arial" panose="020B0604020202020204" pitchFamily="34" charset="0"/>
                <a:cs typeface="Arial" panose="020B0604020202020204" pitchFamily="34" charset="0"/>
              </a:rPr>
              <a:t> where the user interacts with the scanner through a web interface, and the backend processes scan requests, performs vulnerability analysis, and generates reports.</a:t>
            </a: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Process Flow:</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The scanning workflow includes </a:t>
            </a:r>
            <a:r>
              <a:rPr lang="en-US" sz="1200" b="1" dirty="0">
                <a:latin typeface="Arial" panose="020B0604020202020204" pitchFamily="34" charset="0"/>
                <a:cs typeface="Arial" panose="020B0604020202020204" pitchFamily="34" charset="0"/>
              </a:rPr>
              <a:t>target URL input</a:t>
            </a:r>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web crawling</a:t>
            </a:r>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vulnerability detection</a:t>
            </a:r>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Proof-of-Concept verification</a:t>
            </a:r>
            <a:r>
              <a:rPr lang="en-US" sz="1200" dirty="0">
                <a:latin typeface="Arial" panose="020B0604020202020204" pitchFamily="34" charset="0"/>
                <a:cs typeface="Arial" panose="020B0604020202020204" pitchFamily="34" charset="0"/>
              </a:rPr>
              <a:t>, and </a:t>
            </a:r>
            <a:r>
              <a:rPr lang="en-US" sz="1200" b="1" dirty="0">
                <a:latin typeface="Arial" panose="020B0604020202020204" pitchFamily="34" charset="0"/>
                <a:cs typeface="Arial" panose="020B0604020202020204" pitchFamily="34" charset="0"/>
              </a:rPr>
              <a:t>report generation</a:t>
            </a:r>
            <a:r>
              <a:rPr lang="en-US" sz="1200" dirty="0">
                <a:latin typeface="Arial" panose="020B0604020202020204" pitchFamily="34" charset="0"/>
                <a:cs typeface="Arial" panose="020B0604020202020204" pitchFamily="34" charset="0"/>
              </a:rPr>
              <a:t>, ensuring systematic security assessment.</a:t>
            </a: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Data Flow Diagrams (DFD):</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Data Flow Diagrams are used to represent the movement of data between the user, scanner engine, target web application, and database at different levels of abstraction.</a:t>
            </a: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Entity Relationship Diagram (ERD):</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The ER diagram defines relationships between entities such as users, scans, vulnerabilities, logs, and reports for efficient data management.</a:t>
            </a: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Block Diagram Representation:</a:t>
            </a:r>
            <a:br>
              <a:rPr lang="en-US" sz="1200" dirty="0">
                <a:latin typeface="Arial" panose="020B0604020202020204" pitchFamily="34" charset="0"/>
                <a:cs typeface="Arial" panose="020B0604020202020204" pitchFamily="34" charset="0"/>
              </a:rPr>
            </a:br>
            <a:r>
              <a:rPr lang="en-US" sz="1200" dirty="0">
                <a:latin typeface="Arial" panose="020B0604020202020204" pitchFamily="34" charset="0"/>
                <a:cs typeface="Arial" panose="020B0604020202020204" pitchFamily="34" charset="0"/>
              </a:rPr>
              <a:t>Block diagrams illustrate the interaction between major system components, including the frontend, scanner engine, database, and reporting module.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5422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BE0763-276A-6CB3-EA3C-00DCF9F1EB3E}"/>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86358806-F3FE-8D99-661D-B5D2EC04DD2A}"/>
              </a:ext>
            </a:extLst>
          </p:cNvPr>
          <p:cNvSpPr>
            <a:spLocks noGrp="1"/>
          </p:cNvSpPr>
          <p:nvPr>
            <p:ph type="sldNum" sz="quarter" idx="12"/>
          </p:nvPr>
        </p:nvSpPr>
        <p:spPr/>
        <p:txBody>
          <a:bodyPr/>
          <a:lstStyle/>
          <a:p>
            <a:fld id="{D74C958B-560E-487B-A5FD-4D7E98A2579C}" type="slidenum">
              <a:rPr lang="en-US" smtClean="0"/>
              <a:t>10</a:t>
            </a:fld>
            <a:endParaRPr lang="en-US"/>
          </a:p>
        </p:txBody>
      </p:sp>
      <p:sp>
        <p:nvSpPr>
          <p:cNvPr id="4" name="Title 3">
            <a:extLst>
              <a:ext uri="{FF2B5EF4-FFF2-40B4-BE49-F238E27FC236}">
                <a16:creationId xmlns:a16="http://schemas.microsoft.com/office/drawing/2014/main" id="{21BED67C-F857-B93B-12ED-5F42FD092C82}"/>
              </a:ext>
            </a:extLst>
          </p:cNvPr>
          <p:cNvSpPr>
            <a:spLocks noGrp="1"/>
          </p:cNvSpPr>
          <p:nvPr>
            <p:ph type="title"/>
          </p:nvPr>
        </p:nvSpPr>
        <p:spPr>
          <a:xfrm>
            <a:off x="431922" y="547245"/>
            <a:ext cx="8272212" cy="576706"/>
          </a:xfrm>
        </p:spPr>
        <p:txBody>
          <a:bodyPr/>
          <a:lstStyle/>
          <a:p>
            <a:r>
              <a:rPr lang="en-IN" dirty="0"/>
              <a:t>Workflow</a:t>
            </a:r>
          </a:p>
        </p:txBody>
      </p:sp>
      <p:pic>
        <p:nvPicPr>
          <p:cNvPr id="8" name="Picture 7">
            <a:extLst>
              <a:ext uri="{FF2B5EF4-FFF2-40B4-BE49-F238E27FC236}">
                <a16:creationId xmlns:a16="http://schemas.microsoft.com/office/drawing/2014/main" id="{499F8CA0-9A70-A803-B49B-0037B70D54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8667" y="1428749"/>
            <a:ext cx="6295610" cy="3312197"/>
          </a:xfrm>
          <a:prstGeom prst="rect">
            <a:avLst/>
          </a:prstGeom>
        </p:spPr>
      </p:pic>
      <p:pic>
        <p:nvPicPr>
          <p:cNvPr id="6" name="Picture 5">
            <a:extLst>
              <a:ext uri="{FF2B5EF4-FFF2-40B4-BE49-F238E27FC236}">
                <a16:creationId xmlns:a16="http://schemas.microsoft.com/office/drawing/2014/main" id="{447E7076-4CC3-1EC7-0168-B7AB45CB0BB8}"/>
              </a:ext>
            </a:extLst>
          </p:cNvPr>
          <p:cNvPicPr>
            <a:picLocks noChangeAspect="1"/>
          </p:cNvPicPr>
          <p:nvPr/>
        </p:nvPicPr>
        <p:blipFill>
          <a:blip r:embed="rId3"/>
          <a:stretch>
            <a:fillRect/>
          </a:stretch>
        </p:blipFill>
        <p:spPr>
          <a:xfrm>
            <a:off x="7702428" y="514350"/>
            <a:ext cx="1009650" cy="838200"/>
          </a:xfrm>
          <a:prstGeom prst="rect">
            <a:avLst/>
          </a:prstGeom>
        </p:spPr>
      </p:pic>
    </p:spTree>
    <p:extLst>
      <p:ext uri="{BB962C8B-B14F-4D97-AF65-F5344CB8AC3E}">
        <p14:creationId xmlns:p14="http://schemas.microsoft.com/office/powerpoint/2010/main" val="1570597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B4025-43AC-0912-1D02-FC077E0B9D5A}"/>
              </a:ext>
            </a:extLst>
          </p:cNvPr>
          <p:cNvSpPr>
            <a:spLocks noGrp="1"/>
          </p:cNvSpPr>
          <p:nvPr>
            <p:ph type="dt" sz="half" idx="10"/>
          </p:nvPr>
        </p:nvSpPr>
        <p:spPr>
          <a:xfrm>
            <a:off x="5747812" y="4832092"/>
            <a:ext cx="2133598" cy="273844"/>
          </a:xfrm>
        </p:spPr>
        <p:txBody>
          <a:bodyPr/>
          <a:lstStyle/>
          <a:p>
            <a:fld id="{8E4E0582-5787-4C7E-9A38-64712BA2C227}" type="datetime1">
              <a:rPr lang="en-US" smtClean="0"/>
              <a:t>1/28/2026</a:t>
            </a:fld>
            <a:endParaRPr lang="en-US" dirty="0"/>
          </a:p>
        </p:txBody>
      </p:sp>
      <p:sp>
        <p:nvSpPr>
          <p:cNvPr id="3" name="Slide Number Placeholder 2">
            <a:extLst>
              <a:ext uri="{FF2B5EF4-FFF2-40B4-BE49-F238E27FC236}">
                <a16:creationId xmlns:a16="http://schemas.microsoft.com/office/drawing/2014/main" id="{033F6006-9106-9FDE-54C2-5F0E67DE0928}"/>
              </a:ext>
            </a:extLst>
          </p:cNvPr>
          <p:cNvSpPr>
            <a:spLocks noGrp="1"/>
          </p:cNvSpPr>
          <p:nvPr>
            <p:ph type="sldNum" sz="quarter" idx="12"/>
          </p:nvPr>
        </p:nvSpPr>
        <p:spPr>
          <a:xfrm>
            <a:off x="7914751" y="4832092"/>
            <a:ext cx="789383" cy="273844"/>
          </a:xfrm>
        </p:spPr>
        <p:txBody>
          <a:bodyPr/>
          <a:lstStyle/>
          <a:p>
            <a:fld id="{D74C958B-560E-487B-A5FD-4D7E98A2579C}" type="slidenum">
              <a:rPr lang="en-US" smtClean="0"/>
              <a:t>11</a:t>
            </a:fld>
            <a:endParaRPr lang="en-US"/>
          </a:p>
        </p:txBody>
      </p:sp>
      <p:sp>
        <p:nvSpPr>
          <p:cNvPr id="4" name="Title 3">
            <a:extLst>
              <a:ext uri="{FF2B5EF4-FFF2-40B4-BE49-F238E27FC236}">
                <a16:creationId xmlns:a16="http://schemas.microsoft.com/office/drawing/2014/main" id="{20789A67-78C7-2100-D6DE-4FE1AD69E707}"/>
              </a:ext>
            </a:extLst>
          </p:cNvPr>
          <p:cNvSpPr>
            <a:spLocks noGrp="1"/>
          </p:cNvSpPr>
          <p:nvPr>
            <p:ph type="title"/>
          </p:nvPr>
        </p:nvSpPr>
        <p:spPr>
          <a:xfrm>
            <a:off x="431922" y="547245"/>
            <a:ext cx="8272212" cy="576705"/>
          </a:xfrm>
        </p:spPr>
        <p:txBody>
          <a:bodyPr/>
          <a:lstStyle/>
          <a:p>
            <a:r>
              <a:rPr lang="en-US" sz="2400" dirty="0">
                <a:solidFill>
                  <a:srgbClr val="FFFFFF"/>
                </a:solidFill>
                <a:latin typeface="Gill Sans Light"/>
                <a:ea typeface="Gill Sans Light"/>
                <a:cs typeface="Gill Sans Light"/>
                <a:sym typeface="Gill Sans Light"/>
              </a:rPr>
              <a:t>Implementation</a:t>
            </a:r>
            <a:endParaRPr lang="en-IN" dirty="0"/>
          </a:p>
        </p:txBody>
      </p:sp>
      <p:pic>
        <p:nvPicPr>
          <p:cNvPr id="5" name="Picture 4">
            <a:extLst>
              <a:ext uri="{FF2B5EF4-FFF2-40B4-BE49-F238E27FC236}">
                <a16:creationId xmlns:a16="http://schemas.microsoft.com/office/drawing/2014/main" id="{21A0D485-447C-D8B7-A4BA-DDCB2A6CFDE3}"/>
              </a:ext>
            </a:extLst>
          </p:cNvPr>
          <p:cNvPicPr>
            <a:picLocks noChangeAspect="1"/>
          </p:cNvPicPr>
          <p:nvPr/>
        </p:nvPicPr>
        <p:blipFill>
          <a:blip r:embed="rId2"/>
          <a:stretch>
            <a:fillRect/>
          </a:stretch>
        </p:blipFill>
        <p:spPr>
          <a:xfrm>
            <a:off x="7702428" y="514350"/>
            <a:ext cx="1009650" cy="838200"/>
          </a:xfrm>
          <a:prstGeom prst="rect">
            <a:avLst/>
          </a:prstGeom>
        </p:spPr>
      </p:pic>
      <p:sp>
        <p:nvSpPr>
          <p:cNvPr id="6" name="TextBox 5">
            <a:extLst>
              <a:ext uri="{FF2B5EF4-FFF2-40B4-BE49-F238E27FC236}">
                <a16:creationId xmlns:a16="http://schemas.microsoft.com/office/drawing/2014/main" id="{A517E457-A3E5-3EDC-231A-DF7F5057DD7A}"/>
              </a:ext>
            </a:extLst>
          </p:cNvPr>
          <p:cNvSpPr txBox="1"/>
          <p:nvPr/>
        </p:nvSpPr>
        <p:spPr>
          <a:xfrm>
            <a:off x="304800" y="1504950"/>
            <a:ext cx="5562600" cy="3231654"/>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Programming Languages, Tools, and Datasets</a:t>
            </a:r>
          </a:p>
          <a:p>
            <a:endParaRPr lang="en-US" sz="1200" b="1"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Programming Languages: </a:t>
            </a:r>
            <a:r>
              <a:rPr lang="en-US" sz="1200" dirty="0">
                <a:latin typeface="Arial" panose="020B0604020202020204" pitchFamily="34" charset="0"/>
                <a:cs typeface="Arial" panose="020B0604020202020204" pitchFamily="34" charset="0"/>
              </a:rPr>
              <a:t>The backend of the system is implemented using </a:t>
            </a:r>
            <a:r>
              <a:rPr lang="en-US" sz="1200" b="1" dirty="0">
                <a:latin typeface="Arial" panose="020B0604020202020204" pitchFamily="34" charset="0"/>
                <a:cs typeface="Arial" panose="020B0604020202020204" pitchFamily="34" charset="0"/>
              </a:rPr>
              <a:t>Python</a:t>
            </a:r>
            <a:r>
              <a:rPr lang="en-US" sz="1200" dirty="0">
                <a:latin typeface="Arial" panose="020B0604020202020204" pitchFamily="34" charset="0"/>
                <a:cs typeface="Arial" panose="020B0604020202020204" pitchFamily="34" charset="0"/>
              </a:rPr>
              <a:t>, while the frontend is developed using </a:t>
            </a:r>
            <a:r>
              <a:rPr lang="en-US" sz="1200" b="1" dirty="0">
                <a:latin typeface="Arial" panose="020B0604020202020204" pitchFamily="34" charset="0"/>
                <a:cs typeface="Arial" panose="020B0604020202020204" pitchFamily="34" charset="0"/>
              </a:rPr>
              <a:t>HTML, CSS, JavaScript, and Bootstrap</a:t>
            </a:r>
            <a:r>
              <a:rPr lang="en-US" sz="1200" dirty="0">
                <a:latin typeface="Arial" panose="020B0604020202020204" pitchFamily="34" charset="0"/>
                <a:cs typeface="Arial" panose="020B0604020202020204" pitchFamily="34" charset="0"/>
              </a:rPr>
              <a:t> for responsive and interactive user interfaces.</a:t>
            </a: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Framework and Libraries: Flask</a:t>
            </a:r>
            <a:r>
              <a:rPr lang="en-US" sz="1200" dirty="0">
                <a:latin typeface="Arial" panose="020B0604020202020204" pitchFamily="34" charset="0"/>
                <a:cs typeface="Arial" panose="020B0604020202020204" pitchFamily="34" charset="0"/>
              </a:rPr>
              <a:t> is used in backend framework with libraries, </a:t>
            </a:r>
            <a:r>
              <a:rPr lang="en-US" sz="1200" b="1" dirty="0">
                <a:latin typeface="Arial" panose="020B0604020202020204" pitchFamily="34" charset="0"/>
                <a:cs typeface="Arial" panose="020B0604020202020204" pitchFamily="34" charset="0"/>
              </a:rPr>
              <a:t>Requests</a:t>
            </a:r>
            <a:r>
              <a:rPr lang="en-US" sz="1200" dirty="0">
                <a:latin typeface="Arial" panose="020B0604020202020204" pitchFamily="34" charset="0"/>
                <a:cs typeface="Arial" panose="020B0604020202020204" pitchFamily="34" charset="0"/>
              </a:rPr>
              <a:t> and </a:t>
            </a:r>
            <a:r>
              <a:rPr lang="en-US" sz="1200" b="1" dirty="0" err="1">
                <a:latin typeface="Arial" panose="020B0604020202020204" pitchFamily="34" charset="0"/>
                <a:cs typeface="Arial" panose="020B0604020202020204" pitchFamily="34" charset="0"/>
              </a:rPr>
              <a:t>BeautifulSoup</a:t>
            </a:r>
            <a:r>
              <a:rPr lang="en-US" sz="1200" dirty="0">
                <a:latin typeface="Arial" panose="020B0604020202020204" pitchFamily="34" charset="0"/>
                <a:cs typeface="Arial" panose="020B0604020202020204" pitchFamily="34" charset="0"/>
              </a:rPr>
              <a:t> for web crawling, HTTP communication, and data extraction.</a:t>
            </a: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Database Management: SQLite</a:t>
            </a:r>
            <a:r>
              <a:rPr lang="en-US" sz="1200" dirty="0">
                <a:latin typeface="Arial" panose="020B0604020202020204" pitchFamily="34" charset="0"/>
                <a:cs typeface="Arial" panose="020B0604020202020204" pitchFamily="34" charset="0"/>
              </a:rPr>
              <a:t> is used to store scan information, vulnerability details, logs, and report metadata in a lightweight and structured format.</a:t>
            </a: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Datasets and Test Environment: </a:t>
            </a:r>
            <a:r>
              <a:rPr lang="en-US" sz="1200" dirty="0">
                <a:latin typeface="Arial" panose="020B0604020202020204" pitchFamily="34" charset="0"/>
                <a:cs typeface="Arial" panose="020B0604020202020204" pitchFamily="34" charset="0"/>
              </a:rPr>
              <a:t>The system is tested using </a:t>
            </a:r>
            <a:r>
              <a:rPr lang="en-US" sz="1200" b="1" dirty="0">
                <a:latin typeface="Arial" panose="020B0604020202020204" pitchFamily="34" charset="0"/>
                <a:cs typeface="Arial" panose="020B0604020202020204" pitchFamily="34" charset="0"/>
              </a:rPr>
              <a:t>intentionally vulnerable web applications</a:t>
            </a:r>
            <a:r>
              <a:rPr lang="en-US" sz="1200" dirty="0">
                <a:latin typeface="Arial" panose="020B0604020202020204" pitchFamily="34" charset="0"/>
                <a:cs typeface="Arial" panose="020B0604020202020204" pitchFamily="34" charset="0"/>
              </a:rPr>
              <a:t> and sample datasets designed for educational and authorized security testing.</a:t>
            </a:r>
          </a:p>
          <a:p>
            <a:pPr marL="171450" indent="-171450">
              <a:buFont typeface="Arial" panose="020B0604020202020204" pitchFamily="34" charset="0"/>
              <a:buChar char="•"/>
            </a:pPr>
            <a:r>
              <a:rPr lang="en-US" sz="1200" b="1" dirty="0">
                <a:latin typeface="Arial" panose="020B0604020202020204" pitchFamily="34" charset="0"/>
                <a:cs typeface="Arial" panose="020B0604020202020204" pitchFamily="34" charset="0"/>
              </a:rPr>
              <a:t>Reporting Tools: </a:t>
            </a:r>
            <a:r>
              <a:rPr lang="en-US" sz="1200" dirty="0">
                <a:latin typeface="Arial" panose="020B0604020202020204" pitchFamily="34" charset="0"/>
                <a:cs typeface="Arial" panose="020B0604020202020204" pitchFamily="34" charset="0"/>
              </a:rPr>
              <a:t>Automated PDF report generation is implemented using reporting libraries to provide detailed vulnerability summaries and remediation guidance.</a:t>
            </a:r>
          </a:p>
        </p:txBody>
      </p:sp>
      <p:pic>
        <p:nvPicPr>
          <p:cNvPr id="8" name="Picture 7">
            <a:extLst>
              <a:ext uri="{FF2B5EF4-FFF2-40B4-BE49-F238E27FC236}">
                <a16:creationId xmlns:a16="http://schemas.microsoft.com/office/drawing/2014/main" id="{7B0670F3-36D7-9145-C3DA-DA42FAF89F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314" y="1633478"/>
            <a:ext cx="3070086" cy="3070086"/>
          </a:xfrm>
          <a:prstGeom prst="rect">
            <a:avLst/>
          </a:prstGeom>
        </p:spPr>
      </p:pic>
    </p:spTree>
    <p:extLst>
      <p:ext uri="{BB962C8B-B14F-4D97-AF65-F5344CB8AC3E}">
        <p14:creationId xmlns:p14="http://schemas.microsoft.com/office/powerpoint/2010/main" val="3529833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1E18F1-1182-AB0E-1CAB-8D57E3F8CDC4}"/>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8A65128D-7EC8-D78E-6C9D-381A6547814C}"/>
              </a:ext>
            </a:extLst>
          </p:cNvPr>
          <p:cNvSpPr>
            <a:spLocks noGrp="1"/>
          </p:cNvSpPr>
          <p:nvPr>
            <p:ph type="sldNum" sz="quarter" idx="12"/>
          </p:nvPr>
        </p:nvSpPr>
        <p:spPr/>
        <p:txBody>
          <a:bodyPr/>
          <a:lstStyle/>
          <a:p>
            <a:fld id="{D74C958B-560E-487B-A5FD-4D7E98A2579C}" type="slidenum">
              <a:rPr lang="en-US" smtClean="0"/>
              <a:t>12</a:t>
            </a:fld>
            <a:endParaRPr lang="en-US"/>
          </a:p>
        </p:txBody>
      </p:sp>
      <p:sp>
        <p:nvSpPr>
          <p:cNvPr id="4" name="Title 3">
            <a:extLst>
              <a:ext uri="{FF2B5EF4-FFF2-40B4-BE49-F238E27FC236}">
                <a16:creationId xmlns:a16="http://schemas.microsoft.com/office/drawing/2014/main" id="{B7E7330E-42B2-E252-03D9-0B01BD7B2FC1}"/>
              </a:ext>
            </a:extLst>
          </p:cNvPr>
          <p:cNvSpPr>
            <a:spLocks noGrp="1"/>
          </p:cNvSpPr>
          <p:nvPr>
            <p:ph type="title"/>
          </p:nvPr>
        </p:nvSpPr>
        <p:spPr>
          <a:xfrm>
            <a:off x="431922" y="547245"/>
            <a:ext cx="8272212" cy="576706"/>
          </a:xfrm>
        </p:spPr>
        <p:txBody>
          <a:bodyPr/>
          <a:lstStyle/>
          <a:p>
            <a:r>
              <a:rPr lang="en-US" dirty="0">
                <a:cs typeface="Arial" panose="020B0604020202020204" pitchFamily="34" charset="0"/>
              </a:rPr>
              <a:t>Challenges &amp; Limitations</a:t>
            </a:r>
            <a:endParaRPr lang="en-IN" dirty="0">
              <a:cs typeface="Arial" panose="020B0604020202020204" pitchFamily="34" charset="0"/>
            </a:endParaRPr>
          </a:p>
        </p:txBody>
      </p:sp>
      <p:pic>
        <p:nvPicPr>
          <p:cNvPr id="5" name="Picture 4">
            <a:extLst>
              <a:ext uri="{FF2B5EF4-FFF2-40B4-BE49-F238E27FC236}">
                <a16:creationId xmlns:a16="http://schemas.microsoft.com/office/drawing/2014/main" id="{ECD5BC1A-9699-E578-D09A-8D8F1648449B}"/>
              </a:ext>
            </a:extLst>
          </p:cNvPr>
          <p:cNvPicPr>
            <a:picLocks noChangeAspect="1"/>
          </p:cNvPicPr>
          <p:nvPr/>
        </p:nvPicPr>
        <p:blipFill>
          <a:blip r:embed="rId2"/>
          <a:stretch>
            <a:fillRect/>
          </a:stretch>
        </p:blipFill>
        <p:spPr>
          <a:xfrm>
            <a:off x="7702428" y="514350"/>
            <a:ext cx="1009650" cy="838200"/>
          </a:xfrm>
          <a:prstGeom prst="rect">
            <a:avLst/>
          </a:prstGeom>
        </p:spPr>
      </p:pic>
      <p:sp>
        <p:nvSpPr>
          <p:cNvPr id="6" name="TextBox 5">
            <a:extLst>
              <a:ext uri="{FF2B5EF4-FFF2-40B4-BE49-F238E27FC236}">
                <a16:creationId xmlns:a16="http://schemas.microsoft.com/office/drawing/2014/main" id="{06D139FF-241B-B3DF-3DDD-56820C6E13A1}"/>
              </a:ext>
            </a:extLst>
          </p:cNvPr>
          <p:cNvSpPr txBox="1"/>
          <p:nvPr/>
        </p:nvSpPr>
        <p:spPr>
          <a:xfrm>
            <a:off x="516789" y="1557037"/>
            <a:ext cx="8102478" cy="3046988"/>
          </a:xfrm>
          <a:prstGeom prst="rect">
            <a:avLst/>
          </a:prstGeom>
          <a:noFill/>
        </p:spPr>
        <p:txBody>
          <a:bodyPr wrap="square">
            <a:spAutoFit/>
          </a:bodyPr>
          <a:lstStyle/>
          <a:p>
            <a:r>
              <a:rPr lang="en-IN" sz="1200" b="1" dirty="0">
                <a:latin typeface="Arial" panose="020B0604020202020204" pitchFamily="34" charset="0"/>
                <a:cs typeface="Arial" panose="020B0604020202020204" pitchFamily="34" charset="0"/>
              </a:rPr>
              <a:t>Challenges &amp; Limitations: </a:t>
            </a:r>
          </a:p>
          <a:p>
            <a:endParaRPr lang="en-US" sz="1200" b="1"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Website Protection Mechanisms: </a:t>
            </a:r>
            <a:r>
              <a:rPr lang="en-US" sz="1200" dirty="0">
                <a:latin typeface="Arial" panose="020B0604020202020204" pitchFamily="34" charset="0"/>
                <a:cs typeface="Arial" panose="020B0604020202020204" pitchFamily="34" charset="0"/>
              </a:rPr>
              <a:t>Many web applications implement security measures such as CAPTCHA, WAFs, or IP blocking, which can restrict automated scanning and limit vulnerability detection.</a:t>
            </a:r>
          </a:p>
          <a:p>
            <a:pPr marL="228600" indent="-228600">
              <a:buFont typeface="+mj-lt"/>
              <a:buAutoNum type="arabicPeriod"/>
            </a:pPr>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False Positives and Accuracy: </a:t>
            </a:r>
            <a:r>
              <a:rPr lang="en-US" sz="1200" dirty="0">
                <a:latin typeface="Arial" panose="020B0604020202020204" pitchFamily="34" charset="0"/>
                <a:cs typeface="Arial" panose="020B0604020202020204" pitchFamily="34" charset="0"/>
              </a:rPr>
              <a:t>Automated vulnerability scanning may sometimes generate false positives, requiring manual verification to confirm actual security risks.</a:t>
            </a:r>
          </a:p>
          <a:p>
            <a:pPr marL="228600" indent="-228600">
              <a:buFont typeface="+mj-lt"/>
              <a:buAutoNum type="arabicPeriod"/>
            </a:pPr>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Legal &amp; Ethical Constraints: </a:t>
            </a:r>
            <a:r>
              <a:rPr lang="en-US" sz="1200" dirty="0">
                <a:latin typeface="Arial" panose="020B0604020202020204" pitchFamily="34" charset="0"/>
                <a:cs typeface="Arial" panose="020B0604020202020204" pitchFamily="34" charset="0"/>
              </a:rPr>
              <a:t>Vulnerability scanning must be performed only on authorized targets, as unauthorized scanning may lead to legal and ethical issues.</a:t>
            </a:r>
          </a:p>
          <a:p>
            <a:pPr marL="228600" indent="-228600">
              <a:buFont typeface="+mj-lt"/>
              <a:buAutoNum type="arabicPeriod"/>
            </a:pPr>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Rate Limiting and Request Blocking: </a:t>
            </a:r>
            <a:r>
              <a:rPr lang="en-US" sz="1200" dirty="0">
                <a:latin typeface="Arial" panose="020B0604020202020204" pitchFamily="34" charset="0"/>
                <a:cs typeface="Arial" panose="020B0604020202020204" pitchFamily="34" charset="0"/>
              </a:rPr>
              <a:t>Frequent scan requests may trigger rate limiting or temporary blocking by the target server, affecting scan continuity.</a:t>
            </a:r>
          </a:p>
          <a:p>
            <a:pPr marL="228600" indent="-228600">
              <a:buFont typeface="+mj-lt"/>
              <a:buAutoNum type="arabicPeriod"/>
            </a:pPr>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Limited Vulnerability Coverage: </a:t>
            </a:r>
            <a:r>
              <a:rPr lang="en-US" sz="1200" dirty="0">
                <a:latin typeface="Arial" panose="020B0604020202020204" pitchFamily="34" charset="0"/>
                <a:cs typeface="Arial" panose="020B0604020202020204" pitchFamily="34" charset="0"/>
              </a:rPr>
              <a:t>The system primarily focuses on common vulnerabilities and may not detect advanced or zero-day exploits.</a:t>
            </a:r>
          </a:p>
        </p:txBody>
      </p:sp>
    </p:spTree>
    <p:extLst>
      <p:ext uri="{BB962C8B-B14F-4D97-AF65-F5344CB8AC3E}">
        <p14:creationId xmlns:p14="http://schemas.microsoft.com/office/powerpoint/2010/main" val="522047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5E5B59-E082-B94D-63C9-C13F9EA3D9C2}"/>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7CF07158-8724-B730-4A17-BA29B14784AC}"/>
              </a:ext>
            </a:extLst>
          </p:cNvPr>
          <p:cNvSpPr>
            <a:spLocks noGrp="1"/>
          </p:cNvSpPr>
          <p:nvPr>
            <p:ph type="sldNum" sz="quarter" idx="12"/>
          </p:nvPr>
        </p:nvSpPr>
        <p:spPr/>
        <p:txBody>
          <a:bodyPr/>
          <a:lstStyle/>
          <a:p>
            <a:fld id="{D74C958B-560E-487B-A5FD-4D7E98A2579C}" type="slidenum">
              <a:rPr lang="en-US" smtClean="0"/>
              <a:t>13</a:t>
            </a:fld>
            <a:endParaRPr lang="en-US"/>
          </a:p>
        </p:txBody>
      </p:sp>
      <p:sp>
        <p:nvSpPr>
          <p:cNvPr id="5" name="TextBox 14">
            <a:extLst>
              <a:ext uri="{FF2B5EF4-FFF2-40B4-BE49-F238E27FC236}">
                <a16:creationId xmlns:a16="http://schemas.microsoft.com/office/drawing/2014/main" id="{A7B3CEDB-93F0-5044-D8E6-2E0B55276E51}"/>
              </a:ext>
            </a:extLst>
          </p:cNvPr>
          <p:cNvSpPr txBox="1">
            <a:spLocks noGrp="1"/>
          </p:cNvSpPr>
          <p:nvPr>
            <p:ph type="title"/>
          </p:nvPr>
        </p:nvSpPr>
        <p:spPr>
          <a:xfrm>
            <a:off x="431800" y="547688"/>
            <a:ext cx="8272463" cy="500062"/>
          </a:xfrm>
          <a:prstGeom prst="rect">
            <a:avLst/>
          </a:prstGeom>
        </p:spPr>
        <p:txBody>
          <a:bodyPr lIns="0" tIns="0" rIns="0" bIns="0" rtlCol="0" anchor="b">
            <a:normAutofit fontScale="90000"/>
          </a:bodyPr>
          <a:lstStyle/>
          <a:p>
            <a:pPr algn="l">
              <a:lnSpc>
                <a:spcPts val="5040"/>
              </a:lnSpc>
            </a:pPr>
            <a:r>
              <a:rPr lang="en-US" sz="1800" dirty="0">
                <a:solidFill>
                  <a:srgbClr val="FFFFFF"/>
                </a:solidFill>
                <a:latin typeface="Gill Sans Light"/>
                <a:ea typeface="Gill Sans Light"/>
                <a:cs typeface="Gill Sans Light"/>
                <a:sym typeface="Gill Sans Light"/>
              </a:rPr>
              <a:t>Future Scope</a:t>
            </a:r>
          </a:p>
        </p:txBody>
      </p:sp>
      <p:pic>
        <p:nvPicPr>
          <p:cNvPr id="6" name="Picture 5">
            <a:extLst>
              <a:ext uri="{FF2B5EF4-FFF2-40B4-BE49-F238E27FC236}">
                <a16:creationId xmlns:a16="http://schemas.microsoft.com/office/drawing/2014/main" id="{B6A25040-CAFF-6C0F-1FB8-E95D4704F101}"/>
              </a:ext>
            </a:extLst>
          </p:cNvPr>
          <p:cNvPicPr>
            <a:picLocks noChangeAspect="1"/>
          </p:cNvPicPr>
          <p:nvPr/>
        </p:nvPicPr>
        <p:blipFill>
          <a:blip r:embed="rId2"/>
          <a:stretch>
            <a:fillRect/>
          </a:stretch>
        </p:blipFill>
        <p:spPr>
          <a:xfrm>
            <a:off x="7702428" y="514350"/>
            <a:ext cx="1009650" cy="838200"/>
          </a:xfrm>
          <a:prstGeom prst="rect">
            <a:avLst/>
          </a:prstGeom>
        </p:spPr>
      </p:pic>
      <p:sp>
        <p:nvSpPr>
          <p:cNvPr id="7" name="TextBox 6">
            <a:extLst>
              <a:ext uri="{FF2B5EF4-FFF2-40B4-BE49-F238E27FC236}">
                <a16:creationId xmlns:a16="http://schemas.microsoft.com/office/drawing/2014/main" id="{22D3D0B9-7D27-F483-B1E1-200AE005BD9D}"/>
              </a:ext>
            </a:extLst>
          </p:cNvPr>
          <p:cNvSpPr txBox="1"/>
          <p:nvPr/>
        </p:nvSpPr>
        <p:spPr>
          <a:xfrm>
            <a:off x="304800" y="1504950"/>
            <a:ext cx="8458200" cy="3046988"/>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Possible Enhancements and Scalability:</a:t>
            </a:r>
          </a:p>
          <a:p>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Expansion of Vulnerability Coverage: </a:t>
            </a:r>
            <a:r>
              <a:rPr lang="en-US" sz="1200" dirty="0">
                <a:latin typeface="Arial" panose="020B0604020202020204" pitchFamily="34" charset="0"/>
                <a:cs typeface="Arial" panose="020B0604020202020204" pitchFamily="34" charset="0"/>
              </a:rPr>
              <a:t>The system can be enhanced to detect advanced vulnerabilities such as CSRF, SSRF, insecure deserialization, and authentication bypass issues.</a:t>
            </a:r>
          </a:p>
          <a:p>
            <a:pPr marL="228600" indent="-228600">
              <a:buFont typeface="+mj-lt"/>
              <a:buAutoNum type="arabicPeriod"/>
            </a:pPr>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Authenticated Scanning Support: </a:t>
            </a:r>
            <a:r>
              <a:rPr lang="en-US" sz="1200" dirty="0">
                <a:latin typeface="Arial" panose="020B0604020202020204" pitchFamily="34" charset="0"/>
                <a:cs typeface="Arial" panose="020B0604020202020204" pitchFamily="34" charset="0"/>
              </a:rPr>
              <a:t>Future versions can include authenticated and session-based scanning to analyze secured areas of web applications.</a:t>
            </a:r>
          </a:p>
          <a:p>
            <a:pPr marL="228600" indent="-228600">
              <a:buFont typeface="+mj-lt"/>
              <a:buAutoNum type="arabicPeriod"/>
            </a:pPr>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Improved Accuracy and Intelligence: </a:t>
            </a:r>
            <a:r>
              <a:rPr lang="en-US" sz="1200" dirty="0">
                <a:latin typeface="Arial" panose="020B0604020202020204" pitchFamily="34" charset="0"/>
                <a:cs typeface="Arial" panose="020B0604020202020204" pitchFamily="34" charset="0"/>
              </a:rPr>
              <a:t>Machine learning techniques can be applied to reduce false positives and improve vulnerability detection accuracy.</a:t>
            </a:r>
          </a:p>
          <a:p>
            <a:pPr marL="228600" indent="-228600">
              <a:buFont typeface="+mj-lt"/>
              <a:buAutoNum type="arabicPeriod"/>
            </a:pPr>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Cloud Deployment and Scalability: </a:t>
            </a:r>
            <a:r>
              <a:rPr lang="en-US" sz="1200" dirty="0">
                <a:latin typeface="Arial" panose="020B0604020202020204" pitchFamily="34" charset="0"/>
                <a:cs typeface="Arial" panose="020B0604020202020204" pitchFamily="34" charset="0"/>
              </a:rPr>
              <a:t>Deploying the system on cloud platforms can improve scalability, performance, and support for scanning large-scale applications.</a:t>
            </a:r>
          </a:p>
          <a:p>
            <a:pPr marL="228600" indent="-228600">
              <a:buFont typeface="+mj-lt"/>
              <a:buAutoNum type="arabicPeriod"/>
            </a:pPr>
            <a:endParaRPr lang="en-US" sz="1200" dirty="0">
              <a:latin typeface="Arial" panose="020B0604020202020204" pitchFamily="34" charset="0"/>
              <a:cs typeface="Arial" panose="020B0604020202020204" pitchFamily="34" charset="0"/>
            </a:endParaRPr>
          </a:p>
          <a:p>
            <a:pPr marL="228600" indent="-228600">
              <a:buFont typeface="+mj-lt"/>
              <a:buAutoNum type="arabicPeriod"/>
            </a:pPr>
            <a:r>
              <a:rPr lang="en-US" sz="1200" b="1" dirty="0">
                <a:latin typeface="Arial" panose="020B0604020202020204" pitchFamily="34" charset="0"/>
                <a:cs typeface="Arial" panose="020B0604020202020204" pitchFamily="34" charset="0"/>
              </a:rPr>
              <a:t>Enhanced Reporting and Visualization: </a:t>
            </a:r>
            <a:r>
              <a:rPr lang="en-US" sz="1200" dirty="0">
                <a:latin typeface="Arial" panose="020B0604020202020204" pitchFamily="34" charset="0"/>
                <a:cs typeface="Arial" panose="020B0604020202020204" pitchFamily="34" charset="0"/>
              </a:rPr>
              <a:t>Advanced dashboards, visual analytics, and customizable reports can be added for better vulnerability analysis and management.</a:t>
            </a:r>
          </a:p>
        </p:txBody>
      </p:sp>
    </p:spTree>
    <p:extLst>
      <p:ext uri="{BB962C8B-B14F-4D97-AF65-F5344CB8AC3E}">
        <p14:creationId xmlns:p14="http://schemas.microsoft.com/office/powerpoint/2010/main" val="1196741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D41056-82A0-6E02-2672-1F78FC22CED0}"/>
              </a:ext>
            </a:extLst>
          </p:cNvPr>
          <p:cNvSpPr>
            <a:spLocks noGrp="1"/>
          </p:cNvSpPr>
          <p:nvPr>
            <p:ph type="dt" sz="half" idx="10"/>
          </p:nvPr>
        </p:nvSpPr>
        <p:spPr/>
        <p:txBody>
          <a:bodyPr/>
          <a:lstStyle/>
          <a:p>
            <a:fld id="{8E4E0582-5787-4C7E-9A38-64712BA2C227}" type="datetime1">
              <a:rPr lang="en-US" smtClean="0"/>
              <a:t>1/28/2026</a:t>
            </a:fld>
            <a:endParaRPr lang="en-US"/>
          </a:p>
        </p:txBody>
      </p:sp>
      <p:sp>
        <p:nvSpPr>
          <p:cNvPr id="3" name="Slide Number Placeholder 2">
            <a:extLst>
              <a:ext uri="{FF2B5EF4-FFF2-40B4-BE49-F238E27FC236}">
                <a16:creationId xmlns:a16="http://schemas.microsoft.com/office/drawing/2014/main" id="{94BEC28A-177D-2ACD-63BA-06C7EF1DB71A}"/>
              </a:ext>
            </a:extLst>
          </p:cNvPr>
          <p:cNvSpPr>
            <a:spLocks noGrp="1"/>
          </p:cNvSpPr>
          <p:nvPr>
            <p:ph type="sldNum" sz="quarter" idx="12"/>
          </p:nvPr>
        </p:nvSpPr>
        <p:spPr/>
        <p:txBody>
          <a:bodyPr/>
          <a:lstStyle/>
          <a:p>
            <a:fld id="{D74C958B-560E-487B-A5FD-4D7E98A2579C}" type="slidenum">
              <a:rPr lang="en-US" smtClean="0"/>
              <a:t>14</a:t>
            </a:fld>
            <a:endParaRPr lang="en-US"/>
          </a:p>
        </p:txBody>
      </p:sp>
      <p:sp>
        <p:nvSpPr>
          <p:cNvPr id="4" name="Title 3">
            <a:extLst>
              <a:ext uri="{FF2B5EF4-FFF2-40B4-BE49-F238E27FC236}">
                <a16:creationId xmlns:a16="http://schemas.microsoft.com/office/drawing/2014/main" id="{4A3C7125-ED97-106E-F073-DD04FD40EF1B}"/>
              </a:ext>
            </a:extLst>
          </p:cNvPr>
          <p:cNvSpPr>
            <a:spLocks noGrp="1"/>
          </p:cNvSpPr>
          <p:nvPr>
            <p:ph type="title"/>
          </p:nvPr>
        </p:nvSpPr>
        <p:spPr/>
        <p:txBody>
          <a:bodyPr/>
          <a:lstStyle/>
          <a:p>
            <a:r>
              <a:rPr lang="en-IN" dirty="0"/>
              <a:t>References</a:t>
            </a:r>
          </a:p>
        </p:txBody>
      </p:sp>
      <p:pic>
        <p:nvPicPr>
          <p:cNvPr id="11" name="Picture 10">
            <a:extLst>
              <a:ext uri="{FF2B5EF4-FFF2-40B4-BE49-F238E27FC236}">
                <a16:creationId xmlns:a16="http://schemas.microsoft.com/office/drawing/2014/main" id="{F352C0E8-FFEB-9231-34CB-E23A078FCA5E}"/>
              </a:ext>
            </a:extLst>
          </p:cNvPr>
          <p:cNvPicPr>
            <a:picLocks noChangeAspect="1"/>
          </p:cNvPicPr>
          <p:nvPr/>
        </p:nvPicPr>
        <p:blipFill>
          <a:blip r:embed="rId2"/>
          <a:stretch>
            <a:fillRect/>
          </a:stretch>
        </p:blipFill>
        <p:spPr>
          <a:xfrm>
            <a:off x="7702428" y="514350"/>
            <a:ext cx="1009650" cy="838200"/>
          </a:xfrm>
          <a:prstGeom prst="rect">
            <a:avLst/>
          </a:prstGeom>
        </p:spPr>
      </p:pic>
      <p:sp>
        <p:nvSpPr>
          <p:cNvPr id="5" name="Rectangle 1">
            <a:extLst>
              <a:ext uri="{FF2B5EF4-FFF2-40B4-BE49-F238E27FC236}">
                <a16:creationId xmlns:a16="http://schemas.microsoft.com/office/drawing/2014/main" id="{31FCEB0B-983B-99BB-40D7-6E3DF2D4DAFE}"/>
              </a:ext>
            </a:extLst>
          </p:cNvPr>
          <p:cNvSpPr>
            <a:spLocks noChangeArrowheads="1"/>
          </p:cNvSpPr>
          <p:nvPr/>
        </p:nvSpPr>
        <p:spPr bwMode="auto">
          <a:xfrm>
            <a:off x="431922" y="1789447"/>
            <a:ext cx="71628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8600" marR="0" lvl="0" indent="-228600" algn="l" defTabSz="914400" rtl="0" eaLnBrk="0" fontAlgn="base" latinLnBrk="0" hangingPunct="0">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OWASP Foundation, </a:t>
            </a:r>
            <a:r>
              <a:rPr kumimoji="0" lang="en-US" altLang="en-US" sz="1200" b="0" i="1" u="none" strike="noStrike" cap="none" normalizeH="0" baseline="0" dirty="0">
                <a:ln>
                  <a:noFill/>
                </a:ln>
                <a:solidFill>
                  <a:schemeClr val="tx1"/>
                </a:solidFill>
                <a:effectLst/>
                <a:latin typeface="Arial" panose="020B0604020202020204" pitchFamily="34" charset="0"/>
              </a:rPr>
              <a:t>OWASP Top 10 – Web Application Security Risks</a:t>
            </a:r>
            <a:r>
              <a:rPr kumimoji="0" lang="en-US" altLang="en-US" sz="1200" b="0" i="0" u="none" strike="noStrike" cap="none" normalizeH="0" baseline="0" dirty="0">
                <a:ln>
                  <a:noFill/>
                </a:ln>
                <a:solidFill>
                  <a:schemeClr val="tx1"/>
                </a:solidFill>
                <a:effectLst/>
                <a:latin typeface="Arial" panose="020B0604020202020204" pitchFamily="34" charset="0"/>
              </a:rPr>
              <a:t>,</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hlinkClick r:id="rId3"/>
              </a:rPr>
              <a:t>https://owasp.org/www-project-top-ten/</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28600" marR="0" lvl="0" indent="-228600" algn="l" defTabSz="914400" rtl="0" eaLnBrk="0" fontAlgn="base" latinLnBrk="0" hangingPunct="0">
              <a:spcBef>
                <a:spcPct val="0"/>
              </a:spcBef>
              <a:spcAft>
                <a:spcPct val="0"/>
              </a:spcAft>
              <a:buClrTx/>
              <a:buSzTx/>
              <a:buFont typeface="+mj-lt"/>
              <a:buAutoNum type="arabi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28600" marR="0" lvl="0" indent="-228600" algn="l" defTabSz="914400" rtl="0" eaLnBrk="0" fontAlgn="base" latinLnBrk="0" hangingPunct="0">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Flask Documentation, </a:t>
            </a:r>
            <a:r>
              <a:rPr kumimoji="0" lang="en-US" altLang="en-US" sz="1200" b="0" i="1" u="none" strike="noStrike" cap="none" normalizeH="0" baseline="0" dirty="0">
                <a:ln>
                  <a:noFill/>
                </a:ln>
                <a:solidFill>
                  <a:schemeClr val="tx1"/>
                </a:solidFill>
                <a:effectLst/>
                <a:latin typeface="Arial" panose="020B0604020202020204" pitchFamily="34" charset="0"/>
              </a:rPr>
              <a:t>Flask Web Framework</a:t>
            </a:r>
            <a:r>
              <a:rPr kumimoji="0" lang="en-US" altLang="en-US" sz="1200" b="0" i="0" u="none" strike="noStrike" cap="none" normalizeH="0" baseline="0" dirty="0">
                <a:ln>
                  <a:noFill/>
                </a:ln>
                <a:solidFill>
                  <a:schemeClr val="tx1"/>
                </a:solidFill>
                <a:effectLst/>
                <a:latin typeface="Arial" panose="020B0604020202020204" pitchFamily="34" charset="0"/>
              </a:rPr>
              <a:t>,</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hlinkClick r:id="rId4"/>
              </a:rPr>
              <a:t>https://flask.palletsprojects.com/</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28600" marR="0" lvl="0" indent="-228600" algn="l" defTabSz="914400" rtl="0" eaLnBrk="0" fontAlgn="base" latinLnBrk="0" hangingPunct="0">
              <a:spcBef>
                <a:spcPct val="0"/>
              </a:spcBef>
              <a:spcAft>
                <a:spcPct val="0"/>
              </a:spcAft>
              <a:buClrTx/>
              <a:buSzTx/>
              <a:buFont typeface="+mj-lt"/>
              <a:buAutoNum type="arabi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28600" marR="0" lvl="0" indent="-228600" algn="l" defTabSz="914400" rtl="0" eaLnBrk="0" fontAlgn="base" latinLnBrk="0" hangingPunct="0">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Python Software Foundation, </a:t>
            </a:r>
            <a:r>
              <a:rPr kumimoji="0" lang="en-US" altLang="en-US" sz="1200" b="0" i="1" u="none" strike="noStrike" cap="none" normalizeH="0" baseline="0" dirty="0">
                <a:ln>
                  <a:noFill/>
                </a:ln>
                <a:solidFill>
                  <a:schemeClr val="tx1"/>
                </a:solidFill>
                <a:effectLst/>
                <a:latin typeface="Arial" panose="020B0604020202020204" pitchFamily="34" charset="0"/>
              </a:rPr>
              <a:t>Python 3 Documentation</a:t>
            </a:r>
            <a:r>
              <a:rPr kumimoji="0" lang="en-US" altLang="en-US" sz="1200" b="0" i="0" u="none" strike="noStrike" cap="none" normalizeH="0" baseline="0" dirty="0">
                <a:ln>
                  <a:noFill/>
                </a:ln>
                <a:solidFill>
                  <a:schemeClr val="tx1"/>
                </a:solidFill>
                <a:effectLst/>
                <a:latin typeface="Arial" panose="020B0604020202020204" pitchFamily="34" charset="0"/>
              </a:rPr>
              <a:t>,</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hlinkClick r:id="rId5"/>
              </a:rPr>
              <a:t>https://docs.python.org/3/</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28600" marR="0" lvl="0" indent="-228600" algn="l" defTabSz="914400" rtl="0" eaLnBrk="0" fontAlgn="base" latinLnBrk="0" hangingPunct="0">
              <a:spcBef>
                <a:spcPct val="0"/>
              </a:spcBef>
              <a:spcAft>
                <a:spcPct val="0"/>
              </a:spcAft>
              <a:buClrTx/>
              <a:buSzTx/>
              <a:buFont typeface="+mj-lt"/>
              <a:buAutoNum type="arabi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28600" marR="0" lvl="0" indent="-228600" algn="l" defTabSz="914400" rtl="0" eaLnBrk="0" fontAlgn="base" latinLnBrk="0" hangingPunct="0">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OWASP Zed Attack Proxy (ZAP), </a:t>
            </a:r>
            <a:r>
              <a:rPr kumimoji="0" lang="en-US" altLang="en-US" sz="1200" b="0" i="1" u="none" strike="noStrike" cap="none" normalizeH="0" baseline="0" dirty="0">
                <a:ln>
                  <a:noFill/>
                </a:ln>
                <a:solidFill>
                  <a:schemeClr val="tx1"/>
                </a:solidFill>
                <a:effectLst/>
                <a:latin typeface="Arial" panose="020B0604020202020204" pitchFamily="34" charset="0"/>
              </a:rPr>
              <a:t>Official Documentation</a:t>
            </a:r>
            <a:r>
              <a:rPr kumimoji="0" lang="en-US" altLang="en-US" sz="1200" b="0" i="0" u="none" strike="noStrike" cap="none" normalizeH="0" baseline="0" dirty="0">
                <a:ln>
                  <a:noFill/>
                </a:ln>
                <a:solidFill>
                  <a:schemeClr val="tx1"/>
                </a:solidFill>
                <a:effectLst/>
                <a:latin typeface="Arial" panose="020B0604020202020204" pitchFamily="34" charset="0"/>
              </a:rPr>
              <a:t>,</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hlinkClick r:id="rId6"/>
              </a:rPr>
              <a:t>https://www.zaproxy.org/documentation/</a:t>
            </a:r>
            <a:endParaRPr lang="en-US" altLang="en-US" sz="1200" dirty="0">
              <a:latin typeface="Arial" panose="020B0604020202020204" pitchFamily="34" charset="0"/>
            </a:endParaRPr>
          </a:p>
          <a:p>
            <a:pPr marL="228600" marR="0" lvl="0" indent="-228600" algn="l" defTabSz="914400" rtl="0" eaLnBrk="0" fontAlgn="base" latinLnBrk="0" hangingPunct="0">
              <a:spcBef>
                <a:spcPct val="0"/>
              </a:spcBef>
              <a:spcAft>
                <a:spcPct val="0"/>
              </a:spcAft>
              <a:buClrTx/>
              <a:buSzTx/>
              <a:buFont typeface="+mj-lt"/>
              <a:buAutoNum type="arabi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228600" marR="0" lvl="0" indent="-228600" algn="l" defTabSz="914400" rtl="0" eaLnBrk="0" fontAlgn="base" latinLnBrk="0" hangingPunct="0">
              <a:spcBef>
                <a:spcPct val="0"/>
              </a:spcBef>
              <a:spcAft>
                <a:spcPct val="0"/>
              </a:spcAft>
              <a:buClrTx/>
              <a:buSzTx/>
              <a:buFont typeface="+mj-lt"/>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W3C, </a:t>
            </a:r>
            <a:r>
              <a:rPr kumimoji="0" lang="en-US" altLang="en-US" sz="1200" b="0" i="1" u="none" strike="noStrike" cap="none" normalizeH="0" baseline="0" dirty="0">
                <a:ln>
                  <a:noFill/>
                </a:ln>
                <a:solidFill>
                  <a:schemeClr val="tx1"/>
                </a:solidFill>
                <a:effectLst/>
                <a:latin typeface="Arial" panose="020B0604020202020204" pitchFamily="34" charset="0"/>
              </a:rPr>
              <a:t>HTML5 and Web Security Standards</a:t>
            </a:r>
            <a:r>
              <a:rPr kumimoji="0" lang="en-US" altLang="en-US" sz="1200" b="0" i="0" u="none" strike="noStrike" cap="none" normalizeH="0" baseline="0" dirty="0">
                <a:ln>
                  <a:noFill/>
                </a:ln>
                <a:solidFill>
                  <a:schemeClr val="tx1"/>
                </a:solidFill>
                <a:effectLst/>
                <a:latin typeface="Arial" panose="020B0604020202020204" pitchFamily="34" charset="0"/>
              </a:rPr>
              <a:t>,</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hlinkClick r:id="rId7"/>
              </a:rPr>
              <a:t>https://www.w3.org/</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1341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F7660A3D-94D7-4E5D-AE77-F2DEE49DF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42900"/>
            <a:ext cx="2777490" cy="7124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3" name="Rectangle 82">
            <a:extLst>
              <a:ext uri="{FF2B5EF4-FFF2-40B4-BE49-F238E27FC236}">
                <a16:creationId xmlns:a16="http://schemas.microsoft.com/office/drawing/2014/main" id="{A44EB985-DC5C-4DAC-9D62-8DC7D0F25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340232"/>
            <a:ext cx="2777490" cy="7391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85" name="Rectangle 84">
            <a:extLst>
              <a:ext uri="{FF2B5EF4-FFF2-40B4-BE49-F238E27FC236}">
                <a16:creationId xmlns:a16="http://schemas.microsoft.com/office/drawing/2014/main" id="{3FCB64ED-B050-4F57-8188-F2332600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342900"/>
            <a:ext cx="2777490" cy="6858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87" name="Rectangle 86">
            <a:extLst>
              <a:ext uri="{FF2B5EF4-FFF2-40B4-BE49-F238E27FC236}">
                <a16:creationId xmlns:a16="http://schemas.microsoft.com/office/drawing/2014/main" id="{2BF5D0F4-EA4E-47A5-87BE-9ABB1AF66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2314323"/>
            <a:ext cx="8447150" cy="2478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9" name="Rectangle 88">
            <a:extLst>
              <a:ext uri="{FF2B5EF4-FFF2-40B4-BE49-F238E27FC236}">
                <a16:creationId xmlns:a16="http://schemas.microsoft.com/office/drawing/2014/main" id="{328C565D-A991-4381-AC37-76A58A4A1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3810000" y="1466835"/>
            <a:ext cx="4108725" cy="1257315"/>
          </a:xfrm>
          <a:prstGeom prst="rect">
            <a:avLst/>
          </a:prstGeom>
        </p:spPr>
        <p:txBody>
          <a:bodyPr vert="horz" lIns="91440" tIns="45720" rIns="91440" bIns="45720" rtlCol="0" anchor="ctr">
            <a:normAutofit/>
          </a:bodyPr>
          <a:lstStyle/>
          <a:p>
            <a:pPr>
              <a:spcBef>
                <a:spcPct val="0"/>
              </a:spcBef>
              <a:spcAft>
                <a:spcPts val="600"/>
              </a:spcAft>
            </a:pPr>
            <a:r>
              <a:rPr lang="en-US" sz="3600" cap="all" dirty="0">
                <a:solidFill>
                  <a:schemeClr val="accent1"/>
                </a:solidFill>
                <a:latin typeface="+mj-lt"/>
                <a:ea typeface="+mj-ea"/>
                <a:cs typeface="+mj-cs"/>
              </a:rPr>
              <a:t>Thank You</a:t>
            </a:r>
          </a:p>
        </p:txBody>
      </p:sp>
      <p:sp>
        <p:nvSpPr>
          <p:cNvPr id="91" name="Rectangle 90">
            <a:extLst>
              <a:ext uri="{FF2B5EF4-FFF2-40B4-BE49-F238E27FC236}">
                <a16:creationId xmlns:a16="http://schemas.microsoft.com/office/drawing/2014/main" id="{B7180431-F4DE-415D-BCBB-9316423C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40231"/>
            <a:ext cx="8474200" cy="38453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93" name="Rectangle 92">
            <a:extLst>
              <a:ext uri="{FF2B5EF4-FFF2-40B4-BE49-F238E27FC236}">
                <a16:creationId xmlns:a16="http://schemas.microsoft.com/office/drawing/2014/main" id="{EEABD997-5EF9-4E9B-AFBB-F6DFAAF3AD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V="1">
            <a:off x="1656798" y="2497283"/>
            <a:ext cx="2777490" cy="44045"/>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95" name="Rectangle 94">
            <a:extLst>
              <a:ext uri="{FF2B5EF4-FFF2-40B4-BE49-F238E27FC236}">
                <a16:creationId xmlns:a16="http://schemas.microsoft.com/office/drawing/2014/main" id="{E9AB5EE6-A047-4B18-B998-D46DF3CC36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408514"/>
            <a:ext cx="8474200" cy="384531"/>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7918725" y="4465480"/>
            <a:ext cx="762330" cy="273844"/>
          </a:xfrm>
        </p:spPr>
        <p:txBody>
          <a:bodyPr vert="horz" lIns="91440" tIns="45720" rIns="91440" bIns="45720" rtlCol="0" anchor="ctr">
            <a:normAutofit/>
          </a:bodyPr>
          <a:lstStyle/>
          <a:p>
            <a:pPr>
              <a:spcAft>
                <a:spcPts val="600"/>
              </a:spcAft>
              <a:defRPr/>
            </a:pPr>
            <a:fld id="{E552CEC3-F927-492D-ABF5-839FF967DBD5}" type="slidenum">
              <a:rPr lang="en-US" sz="900">
                <a:solidFill>
                  <a:srgbClr val="FFFFFF">
                    <a:alpha val="60000"/>
                  </a:srgbClr>
                </a:solidFill>
              </a:rPr>
              <a:pPr>
                <a:spcAft>
                  <a:spcPts val="600"/>
                </a:spcAft>
                <a:defRPr/>
              </a:pPr>
              <a:t>15</a:t>
            </a:fld>
            <a:endParaRPr lang="en-US" sz="900">
              <a:solidFill>
                <a:srgbClr val="FFFFFF">
                  <a:alpha val="60000"/>
                </a:srgbClr>
              </a:solidFill>
            </a:endParaRPr>
          </a:p>
        </p:txBody>
      </p:sp>
      <p:sp>
        <p:nvSpPr>
          <p:cNvPr id="6" name="Date Placeholder 5">
            <a:extLst>
              <a:ext uri="{FF2B5EF4-FFF2-40B4-BE49-F238E27FC236}">
                <a16:creationId xmlns:a16="http://schemas.microsoft.com/office/drawing/2014/main" id="{E4D65E6F-9292-D1B7-AFCF-38F08BF22F68}"/>
              </a:ext>
            </a:extLst>
          </p:cNvPr>
          <p:cNvSpPr>
            <a:spLocks noGrp="1"/>
          </p:cNvSpPr>
          <p:nvPr>
            <p:ph type="dt" sz="half" idx="10"/>
          </p:nvPr>
        </p:nvSpPr>
        <p:spPr/>
        <p:txBody>
          <a:bodyPr/>
          <a:lstStyle/>
          <a:p>
            <a:fld id="{EC9C3F36-0353-4D59-82F4-FD70B7B7601B}" type="datetime1">
              <a:rPr lang="en-US" smtClean="0"/>
              <a:t>1/28/2026</a:t>
            </a:fld>
            <a:endParaRPr lang="en-US"/>
          </a:p>
        </p:txBody>
      </p:sp>
      <p:pic>
        <p:nvPicPr>
          <p:cNvPr id="14" name="Picture 13">
            <a:extLst>
              <a:ext uri="{FF2B5EF4-FFF2-40B4-BE49-F238E27FC236}">
                <a16:creationId xmlns:a16="http://schemas.microsoft.com/office/drawing/2014/main" id="{0F4BE24B-6BF9-85FC-7F0F-0A766E0747FA}"/>
              </a:ext>
            </a:extLst>
          </p:cNvPr>
          <p:cNvPicPr>
            <a:picLocks noChangeAspect="1"/>
          </p:cNvPicPr>
          <p:nvPr/>
        </p:nvPicPr>
        <p:blipFill>
          <a:blip r:embed="rId2"/>
          <a:stretch>
            <a:fillRect/>
          </a:stretch>
        </p:blipFill>
        <p:spPr>
          <a:xfrm>
            <a:off x="756688" y="1572250"/>
            <a:ext cx="1996928" cy="1789168"/>
          </a:xfrm>
          <a:prstGeom prst="rect">
            <a:avLst/>
          </a:prstGeom>
        </p:spPr>
      </p:pic>
    </p:spTree>
    <p:extLst>
      <p:ext uri="{BB962C8B-B14F-4D97-AF65-F5344CB8AC3E}">
        <p14:creationId xmlns:p14="http://schemas.microsoft.com/office/powerpoint/2010/main" val="426792706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22603</TotalTime>
  <Words>1549</Words>
  <Application>Microsoft Office PowerPoint</Application>
  <PresentationFormat>On-screen Show (16:9)</PresentationFormat>
  <Paragraphs>167</Paragraphs>
  <Slides>15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Gill Sans Light</vt:lpstr>
      <vt:lpstr>Gill Sans MT</vt:lpstr>
      <vt:lpstr>Times New Roman</vt:lpstr>
      <vt:lpstr>Wingdings 2</vt:lpstr>
      <vt:lpstr>Dividend</vt:lpstr>
      <vt:lpstr>PowerPoint Presentation</vt:lpstr>
      <vt:lpstr>PowerPoint Presentation</vt:lpstr>
      <vt:lpstr>Introduction</vt:lpstr>
      <vt:lpstr>Problem Statement</vt:lpstr>
      <vt:lpstr> </vt:lpstr>
      <vt:lpstr>Objectives</vt:lpstr>
      <vt:lpstr>Literature Review</vt:lpstr>
      <vt:lpstr>Methodology </vt:lpstr>
      <vt:lpstr>Workflow</vt:lpstr>
      <vt:lpstr>Workflow</vt:lpstr>
      <vt:lpstr>Implementation</vt:lpstr>
      <vt:lpstr>Challenges &amp; Limitations</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Arpit Khandelwal [PhD - 2020]</dc:creator>
  <cp:lastModifiedBy>vedansh gupta</cp:lastModifiedBy>
  <cp:revision>444</cp:revision>
  <cp:lastPrinted>2021-02-06T09:26:45Z</cp:lastPrinted>
  <dcterms:created xsi:type="dcterms:W3CDTF">2021-02-02T10:13:16Z</dcterms:created>
  <dcterms:modified xsi:type="dcterms:W3CDTF">2026-01-28T11:42:25Z</dcterms:modified>
</cp:coreProperties>
</file>