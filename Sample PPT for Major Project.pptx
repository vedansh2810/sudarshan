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1" r:id="rId1"/>
  </p:sldMasterIdLst>
  <p:notesMasterIdLst>
    <p:notesMasterId r:id="rId9"/>
  </p:notesMasterIdLst>
  <p:handoutMasterIdLst>
    <p:handoutMasterId r:id="rId10"/>
  </p:handoutMasterIdLst>
  <p:sldIdLst>
    <p:sldId id="1657" r:id="rId2"/>
    <p:sldId id="1641" r:id="rId3"/>
    <p:sldId id="1676" r:id="rId4"/>
    <p:sldId id="1677" r:id="rId5"/>
    <p:sldId id="1690" r:id="rId6"/>
    <p:sldId id="1698" r:id="rId7"/>
    <p:sldId id="1583" r:id="rId8"/>
  </p:sldIdLst>
  <p:sldSz cx="9144000" cy="5143500" type="screen16x9"/>
  <p:notesSz cx="9869488" cy="673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pit Khandelwal [PhD - 2020]" initials="AK[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A3260"/>
    <a:srgbClr val="0000FF"/>
    <a:srgbClr val="000066"/>
    <a:srgbClr val="2957A4"/>
    <a:srgbClr val="003300"/>
    <a:srgbClr val="FF9966"/>
    <a:srgbClr val="FF9933"/>
    <a:srgbClr val="6600FF"/>
    <a:srgbClr val="B050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1525" autoAdjust="0"/>
  </p:normalViewPr>
  <p:slideViewPr>
    <p:cSldViewPr>
      <p:cViewPr>
        <p:scale>
          <a:sx n="70" d="100"/>
          <a:sy n="70" d="100"/>
        </p:scale>
        <p:origin x="1814" y="653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173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6779" cy="33795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0429" y="1"/>
            <a:ext cx="4276779" cy="33795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CC24A449-4BC4-4E09-90DE-354BE26668C7}" type="datetimeFigureOut">
              <a:rPr lang="en-IN" smtClean="0"/>
              <a:t>22-03-2026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397808"/>
            <a:ext cx="4276779" cy="337957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0429" y="6397808"/>
            <a:ext cx="4276779" cy="337957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F35EDFB-F004-4D1D-B235-12240AA84BF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50768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0429" y="0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0813" y="506413"/>
            <a:ext cx="4487862" cy="2524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6950" y="3199490"/>
            <a:ext cx="7895590" cy="3031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397805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0429" y="6397805"/>
            <a:ext cx="4276779" cy="3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62D9B74-FF16-4D34-AF33-91D0E6F48B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967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102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23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3" y="765324"/>
            <a:ext cx="8245163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8" y="1871586"/>
            <a:ext cx="8245161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2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D7ECDD8-D44E-4456-BC16-A0311727FA49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5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8" y="4467103"/>
            <a:ext cx="762331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6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8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8" y="1635373"/>
            <a:ext cx="8272212" cy="275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BFC7A-4104-4D80-A448-FAEC597542FC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8" y="4467103"/>
            <a:ext cx="789381" cy="273844"/>
          </a:xfrm>
        </p:spPr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3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6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2282933"/>
            <a:ext cx="8272212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8" y="3406065"/>
            <a:ext cx="8272212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1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1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2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3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4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5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6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6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D2480E6-0F4E-4933-BBD2-F486B8477145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8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90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8" y="1671005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2" y="1671005"/>
            <a:ext cx="4066795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844C-B1B3-419C-9DB9-698CCDBEB1C9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90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8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7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16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2" indent="0">
              <a:buNone/>
              <a:defRPr sz="1200" b="1"/>
            </a:lvl6pPr>
            <a:lvl7pPr marL="2057452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7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4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10" indent="0">
              <a:buNone/>
              <a:defRPr sz="1500" b="1"/>
            </a:lvl2pPr>
            <a:lvl3pPr marL="685816" indent="0">
              <a:buNone/>
              <a:defRPr sz="1350" b="1"/>
            </a:lvl3pPr>
            <a:lvl4pPr marL="1028726" indent="0">
              <a:buNone/>
              <a:defRPr sz="1200" b="1"/>
            </a:lvl4pPr>
            <a:lvl5pPr marL="1371634" indent="0">
              <a:buNone/>
              <a:defRPr sz="1200" b="1"/>
            </a:lvl5pPr>
            <a:lvl6pPr marL="1714542" indent="0">
              <a:buNone/>
              <a:defRPr sz="1200" b="1"/>
            </a:lvl6pPr>
            <a:lvl7pPr marL="2057452" indent="0">
              <a:buNone/>
              <a:defRPr sz="1200" b="1"/>
            </a:lvl7pPr>
            <a:lvl8pPr marL="2400360" indent="0">
              <a:buNone/>
              <a:defRPr sz="1200" b="1"/>
            </a:lvl8pPr>
            <a:lvl9pPr marL="2743268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35C88-B544-4FF2-91DC-FD08B68E75D8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04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330514" y="454916"/>
            <a:ext cx="8475028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4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DE7CB-591D-47BA-8322-3A29D5A33E15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83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946723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20" y="3946723"/>
            <a:ext cx="4402491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10" indent="0">
              <a:buNone/>
              <a:defRPr sz="825"/>
            </a:lvl2pPr>
            <a:lvl3pPr marL="685816" indent="0">
              <a:buNone/>
              <a:defRPr sz="750"/>
            </a:lvl3pPr>
            <a:lvl4pPr marL="1028726" indent="0">
              <a:buNone/>
              <a:defRPr sz="675"/>
            </a:lvl4pPr>
            <a:lvl5pPr marL="1371634" indent="0">
              <a:buNone/>
              <a:defRPr sz="675"/>
            </a:lvl5pPr>
            <a:lvl6pPr marL="1714542" indent="0">
              <a:buNone/>
              <a:defRPr sz="675"/>
            </a:lvl6pPr>
            <a:lvl7pPr marL="2057452" indent="0">
              <a:buNone/>
              <a:defRPr sz="675"/>
            </a:lvl7pPr>
            <a:lvl8pPr marL="2400360" indent="0">
              <a:buNone/>
              <a:defRPr sz="675"/>
            </a:lvl8pPr>
            <a:lvl9pPr marL="274326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0D047B2-8E06-47FB-BE11-5CEF8D1A9DEF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7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8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6" y="449796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10" indent="0">
              <a:buNone/>
              <a:defRPr sz="1200"/>
            </a:lvl2pPr>
            <a:lvl3pPr marL="685816" indent="0">
              <a:buNone/>
              <a:defRPr sz="1200"/>
            </a:lvl3pPr>
            <a:lvl4pPr marL="1028726" indent="0">
              <a:buNone/>
              <a:defRPr sz="1200"/>
            </a:lvl4pPr>
            <a:lvl5pPr marL="1371634" indent="0">
              <a:buNone/>
              <a:defRPr sz="1200"/>
            </a:lvl5pPr>
            <a:lvl6pPr marL="1714542" indent="0">
              <a:buNone/>
              <a:defRPr sz="1200"/>
            </a:lvl6pPr>
            <a:lvl7pPr marL="2057452" indent="0">
              <a:buNone/>
              <a:defRPr sz="1200"/>
            </a:lvl7pPr>
            <a:lvl8pPr marL="2400360" indent="0">
              <a:buNone/>
              <a:defRPr sz="1200"/>
            </a:lvl8pPr>
            <a:lvl9pPr marL="2743268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3945097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10" indent="0">
              <a:buNone/>
              <a:defRPr sz="900"/>
            </a:lvl2pPr>
            <a:lvl3pPr marL="685816" indent="0">
              <a:buNone/>
              <a:defRPr sz="750"/>
            </a:lvl3pPr>
            <a:lvl4pPr marL="1028726" indent="0">
              <a:buNone/>
              <a:defRPr sz="675"/>
            </a:lvl4pPr>
            <a:lvl5pPr marL="1371634" indent="0">
              <a:buNone/>
              <a:defRPr sz="675"/>
            </a:lvl5pPr>
            <a:lvl6pPr marL="1714542" indent="0">
              <a:buNone/>
              <a:defRPr sz="675"/>
            </a:lvl6pPr>
            <a:lvl7pPr marL="2057452" indent="0">
              <a:buNone/>
              <a:defRPr sz="675"/>
            </a:lvl7pPr>
            <a:lvl8pPr marL="2400360" indent="0">
              <a:buNone/>
              <a:defRPr sz="675"/>
            </a:lvl8pPr>
            <a:lvl9pPr marL="2743268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97BF-04B7-4AFF-96FA-E602D37CC722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63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8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8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5C818-FA55-4CBE-AF3A-5087AF3F19B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1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6"/>
            <a:ext cx="2180114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3" y="506797"/>
            <a:ext cx="1503124" cy="38873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5" y="506797"/>
            <a:ext cx="5922210" cy="388730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7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5D1FAF7-FF9A-4212-B766-93B327AE09E1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5" y="4463859"/>
            <a:ext cx="592221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4" y="4467103"/>
            <a:ext cx="873147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92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8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8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9" y="4467103"/>
            <a:ext cx="213359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EFFC6534-3E47-417C-B01A-40251ACAED8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74C958B-560E-487B-A5FD-4D7E98A2579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1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3106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hf hdr="0" ftr="0"/>
  <p:txStyles>
    <p:titleStyle>
      <a:lvl1pPr algn="l" defTabSz="34291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6" indent="-229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12" indent="-229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16" indent="-202506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24" indent="-17550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30" indent="-17550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36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41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47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52" indent="-171454" algn="l" defTabSz="34291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6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26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4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4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52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60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68" algn="l" defTabSz="34291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8384655-5212-2E6B-5348-F0EA2A28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96200" y="4738444"/>
            <a:ext cx="990600" cy="273844"/>
          </a:xfrm>
        </p:spPr>
        <p:txBody>
          <a:bodyPr/>
          <a:lstStyle/>
          <a:p>
            <a:r>
              <a:rPr lang="en-US" b="1" dirty="0" smtClean="0"/>
              <a:t>Presentation Date</a:t>
            </a:r>
          </a:p>
          <a:p>
            <a:pPr algn="l"/>
            <a:r>
              <a:rPr lang="en-US" b="1" dirty="0" smtClean="0"/>
              <a:t>   24.04.2025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37A1D-279B-F351-9F78-4F1E3A0738D1}"/>
              </a:ext>
            </a:extLst>
          </p:cNvPr>
          <p:cNvSpPr txBox="1"/>
          <p:nvPr/>
        </p:nvSpPr>
        <p:spPr>
          <a:xfrm>
            <a:off x="381000" y="1247402"/>
            <a:ext cx="8382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Major Project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b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the End </a:t>
            </a:r>
            <a:r>
              <a:rPr lang="en-US" alt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</a:t>
            </a:r>
            <a: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BCA VI </a:t>
            </a:r>
            <a:r>
              <a:rPr lang="en-US" alt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AB2B5-4DC7-FEFD-C7E3-77CD7D068669}"/>
              </a:ext>
            </a:extLst>
          </p:cNvPr>
          <p:cNvSpPr txBox="1"/>
          <p:nvPr/>
        </p:nvSpPr>
        <p:spPr>
          <a:xfrm>
            <a:off x="2286000" y="2419350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(Registration 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algn="ctr"/>
            <a:r>
              <a:rPr lang="en-US" alt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  <a:endParaRPr lang="en-US" altLang="en-US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Under supervision of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 Name</a:t>
            </a:r>
            <a:b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b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alt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8C0CC1-1121-F88E-63D8-CB49E99BA85B}"/>
              </a:ext>
            </a:extLst>
          </p:cNvPr>
          <p:cNvSpPr txBox="1"/>
          <p:nvPr/>
        </p:nvSpPr>
        <p:spPr>
          <a:xfrm>
            <a:off x="1219200" y="4248150"/>
            <a:ext cx="6934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Computer Science and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                          </a:t>
            </a:r>
            <a:r>
              <a:rPr lang="en-US" altLang="en-US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Poornima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University, Jaipur</a:t>
            </a:r>
            <a:endParaRPr lang="en-IN" sz="2000" dirty="0"/>
          </a:p>
        </p:txBody>
      </p:sp>
      <p:pic>
        <p:nvPicPr>
          <p:cNvPr id="17" name="Picture 16" descr="Poornima Logo.png">
            <a:extLst>
              <a:ext uri="{FF2B5EF4-FFF2-40B4-BE49-F238E27FC236}">
                <a16:creationId xmlns:a16="http://schemas.microsoft.com/office/drawing/2014/main" id="{3F744185-AF1E-7495-40D6-4D28552FB795}"/>
              </a:ext>
            </a:extLst>
          </p:cNvPr>
          <p:cNvPicPr/>
          <p:nvPr/>
        </p:nvPicPr>
        <p:blipFill>
          <a:blip r:embed="rId2"/>
          <a:srcRect l="1533" r="23955" b="56219"/>
          <a:stretch>
            <a:fillRect/>
          </a:stretch>
        </p:blipFill>
        <p:spPr>
          <a:xfrm>
            <a:off x="1981200" y="418169"/>
            <a:ext cx="5410199" cy="873797"/>
          </a:xfrm>
          <a:prstGeom prst="rect">
            <a:avLst/>
          </a:prstGeom>
        </p:spPr>
      </p:pic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15EC2832-011A-523B-42E2-828A30CE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53400" y="4776387"/>
            <a:ext cx="789383" cy="273844"/>
          </a:xfrm>
        </p:spPr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436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8325AF-BBFB-4CAF-9528-011675947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10108"/>
            <a:ext cx="8481389" cy="7603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600"/>
              </a:spcAft>
            </a:pPr>
            <a:r>
              <a:rPr lang="en-US" altLang="en-US" sz="2100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995F18-7DE4-696E-C650-A380DDC73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D6118-8736-4876-A86B-90FC2D9F4C8A}" type="datetime1">
              <a:rPr lang="en-US" smtClean="0"/>
              <a:t>3/22/2026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EC2832-011A-523B-42E2-828A30CE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780A0A-DC65-B555-3B69-7C56EFB1D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196" y="1434480"/>
            <a:ext cx="3690434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(Overview, Problem Statement, Importance)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goals of the project)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research and related works)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techniques, and framework used)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 flowcharts, block diagrams)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languages, tools, datasets)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Graphs, tables, performance metrics)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faced, constraints)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Possible enhancements, scalability)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</a:t>
            </a:r>
            <a:r>
              <a:rPr lang="en-US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findings)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1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15A19-3A75-99D2-F97D-B3B6E27E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946" y="514350"/>
            <a:ext cx="1105054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65C90F-70CE-6B35-EFC0-2D2AC092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7FE9B4-F1B4-71FA-58D7-DF20E82E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3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2A8D3A3-E646-90AC-E2CD-C35EFCD7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4"/>
            <a:ext cx="8272212" cy="576705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952CD2-191B-15AD-C35B-AAD71711D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514350"/>
            <a:ext cx="11430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F7DDB-EEBF-CE4B-6946-5B34A609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C06009-9C25-1B8A-FC2B-E2766AFC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1F31E9-C026-2D6E-05FF-451CE47FA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5"/>
            <a:ext cx="8272212" cy="57670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28B1C-AF15-A821-1ACA-773D72CD7595}"/>
              </a:ext>
            </a:extLst>
          </p:cNvPr>
          <p:cNvSpPr txBox="1"/>
          <p:nvPr/>
        </p:nvSpPr>
        <p:spPr>
          <a:xfrm>
            <a:off x="304800" y="1498709"/>
            <a:ext cx="85344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</a:endParaRPr>
          </a:p>
          <a:p>
            <a:pPr algn="l"/>
            <a:endParaRPr lang="en-US" sz="1200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4BE24B-6BF9-85FC-7F0F-0A766E074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946" y="514350"/>
            <a:ext cx="1105054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8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829E78-AFA0-0AFA-8066-A3912088C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7CEAD6-7095-0842-A43E-8AB9F0C5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5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EBFC05-26FC-3FCE-E550-E9DE25C9E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22" y="547245"/>
            <a:ext cx="8272212" cy="624804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A2B5F6-3459-52BB-2EAE-97337AE1A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946" y="438150"/>
            <a:ext cx="110505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99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392B7-9EDB-02C1-D480-BDA99335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0582-5787-4C7E-9A38-64712BA2C227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91343-70F2-E0A8-AECA-1927D75E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C958B-560E-487B-A5FD-4D7E98A2579C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DE414F-62B0-7C7F-8BB0-27966D9D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09CDD-9FC6-9AD5-19D6-F6CD6362E311}"/>
              </a:ext>
            </a:extLst>
          </p:cNvPr>
          <p:cNvSpPr txBox="1"/>
          <p:nvPr/>
        </p:nvSpPr>
        <p:spPr>
          <a:xfrm>
            <a:off x="304800" y="1733550"/>
            <a:ext cx="85344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“Stress,”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Who.int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https://www.who.int/news-room/questions-and-answers/item/stress.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D. V. Prasad, “Stress, pressure &amp; anxiety of competitive exams – an empirical study on student’s psychological approach,”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Ijfans.org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https://www.ijfans.org/uploads/paper/2a10ddb8e54d729f8606608496d04fdf.pdf.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Ijrpr.com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[Online]. Available: https://ijrpr.com/uploads/V5ISSUE2/IJRPR22974. [Accessed: 21-Jul-2024].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Bisht, S. </a:t>
            </a:r>
            <a:r>
              <a:rPr lang="en-US" sz="1200" b="0" i="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Vashisth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Gupta, and E. Jain, “Stress prediction in Indian school students using machine learning,” in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 3rd International Conference on Intelligent Engineering and Management (ICIEM)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Saha, “Every hour, one student commits suicide in India,” in </a:t>
            </a:r>
            <a:r>
              <a:rPr lang="en-US" sz="1200" b="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Hindustan Times</a:t>
            </a: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</a:p>
          <a:p>
            <a:pPr algn="just"/>
            <a:endParaRPr lang="en-US" sz="1200" dirty="0">
              <a:solidFill>
                <a:srgbClr val="3739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solidFill>
                  <a:srgbClr val="3739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K. Sharma,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Akre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Chakole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M. B.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Wanjari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“Stress-induced diabetes: A review,” </a:t>
            </a:r>
            <a:r>
              <a:rPr lang="en-US" sz="1200" i="1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Cureus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9, p. e29142, 2022.</a:t>
            </a:r>
          </a:p>
          <a:p>
            <a:pPr algn="just"/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i="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S. </a:t>
            </a:r>
            <a:r>
              <a:rPr lang="en-US" sz="1200" dirty="0" err="1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Shahapur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“Decoding minds: Estimation of stress level in students using Machine Learning,” </a:t>
            </a:r>
            <a:r>
              <a:rPr lang="en-US" sz="1200" i="1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Indian J. Sci. Technol.</a:t>
            </a:r>
            <a:r>
              <a:rPr lang="en-US" sz="1200" dirty="0">
                <a:solidFill>
                  <a:srgbClr val="3739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17, no. 19, pp. 2002–2012, 2024.</a:t>
            </a:r>
          </a:p>
          <a:p>
            <a:r>
              <a:rPr lang="en-US" sz="1200" b="0" i="0" dirty="0">
                <a:solidFill>
                  <a:srgbClr val="37393C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US" sz="1200" b="0" i="0" dirty="0">
                <a:solidFill>
                  <a:srgbClr val="37393C"/>
                </a:solidFill>
                <a:effectLst/>
                <a:latin typeface="Arial" panose="020B0604020202020204" pitchFamily="34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800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2900"/>
            <a:ext cx="2777490" cy="712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340232"/>
            <a:ext cx="2777490" cy="7391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2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BF5D0F4-EA4E-47A5-87BE-9ABB1AF66DC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2314323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0" y="1466835"/>
            <a:ext cx="4108725" cy="1257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40231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1656798" y="2497283"/>
            <a:ext cx="2777490" cy="4404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4408514"/>
            <a:ext cx="8474200" cy="38453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918725" y="4465480"/>
            <a:ext cx="762330" cy="2738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E552CEC3-F927-492D-ABF5-839FF967DBD5}" type="slidenum">
              <a:rPr lang="en-US" sz="900">
                <a:solidFill>
                  <a:srgbClr val="FFFFFF">
                    <a:alpha val="60000"/>
                  </a:srgbClr>
                </a:solidFill>
              </a:rPr>
              <a:pPr>
                <a:spcAft>
                  <a:spcPts val="600"/>
                </a:spcAft>
                <a:defRPr/>
              </a:pPr>
              <a:t>7</a:t>
            </a:fld>
            <a:endParaRPr lang="en-US" sz="90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D65E6F-9292-D1B7-AFCF-38F08BF2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C3F36-0353-4D59-82F4-FD70B7B7601B}" type="datetime1">
              <a:rPr lang="en-US" smtClean="0"/>
              <a:t>3/22/2026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486399" y="3181350"/>
            <a:ext cx="3194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b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(Registration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No.)</a:t>
            </a:r>
          </a:p>
          <a:p>
            <a:pPr algn="ctr"/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4BE24B-6BF9-85FC-7F0F-0A766E074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88" y="1572250"/>
            <a:ext cx="1996928" cy="178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2706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22472</TotalTime>
  <Words>136</Words>
  <Application>Microsoft Office PowerPoint</Application>
  <PresentationFormat>On-screen Show (16:9)</PresentationFormat>
  <Paragraphs>68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Gill Sans MT</vt:lpstr>
      <vt:lpstr>Times New Roman</vt:lpstr>
      <vt:lpstr>Wingdings 2</vt:lpstr>
      <vt:lpstr>Dividend</vt:lpstr>
      <vt:lpstr>PowerPoint Presentation</vt:lpstr>
      <vt:lpstr>PowerPoint Presentation</vt:lpstr>
      <vt:lpstr>Introduction</vt:lpstr>
      <vt:lpstr>PowerPoint Presentation</vt:lpstr>
      <vt:lpstr> </vt:lpstr>
      <vt:lpstr>REFRENCES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Arpit Khandelwal [PhD - 2020]</dc:creator>
  <cp:lastModifiedBy>lenovo</cp:lastModifiedBy>
  <cp:revision>422</cp:revision>
  <cp:lastPrinted>2021-02-06T09:26:45Z</cp:lastPrinted>
  <dcterms:created xsi:type="dcterms:W3CDTF">2021-02-02T10:13:16Z</dcterms:created>
  <dcterms:modified xsi:type="dcterms:W3CDTF">2026-03-22T05:45:38Z</dcterms:modified>
</cp:coreProperties>
</file>